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7906"/>
    <a:srgbClr val="E3B1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32" autoAdjust="0"/>
    <p:restoredTop sz="91815" autoAdjust="0"/>
  </p:normalViewPr>
  <p:slideViewPr>
    <p:cSldViewPr snapToGrid="0">
      <p:cViewPr>
        <p:scale>
          <a:sx n="75" d="100"/>
          <a:sy n="75" d="100"/>
        </p:scale>
        <p:origin x="1068" y="7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C8BBC5-5F1C-47FF-A2F1-2E022F4F26FA}"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BC8473-5F71-4C26-A513-CC202DA64E5D}" type="slidenum">
              <a:rPr lang="en-US" smtClean="0"/>
              <a:t>‹#›</a:t>
            </a:fld>
            <a:endParaRPr lang="en-US"/>
          </a:p>
        </p:txBody>
      </p:sp>
    </p:spTree>
    <p:extLst>
      <p:ext uri="{BB962C8B-B14F-4D97-AF65-F5344CB8AC3E}">
        <p14:creationId xmlns:p14="http://schemas.microsoft.com/office/powerpoint/2010/main" val="3608602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BC8473-5F71-4C26-A513-CC202DA64E5D}" type="slidenum">
              <a:rPr lang="en-US" smtClean="0"/>
              <a:t>1</a:t>
            </a:fld>
            <a:endParaRPr lang="en-US"/>
          </a:p>
        </p:txBody>
      </p:sp>
    </p:spTree>
    <p:extLst>
      <p:ext uri="{BB962C8B-B14F-4D97-AF65-F5344CB8AC3E}">
        <p14:creationId xmlns:p14="http://schemas.microsoft.com/office/powerpoint/2010/main" val="729566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BC8473-5F71-4C26-A513-CC202DA64E5D}" type="slidenum">
              <a:rPr lang="en-US" smtClean="0"/>
              <a:t>2</a:t>
            </a:fld>
            <a:endParaRPr lang="en-US"/>
          </a:p>
        </p:txBody>
      </p:sp>
    </p:spTree>
    <p:extLst>
      <p:ext uri="{BB962C8B-B14F-4D97-AF65-F5344CB8AC3E}">
        <p14:creationId xmlns:p14="http://schemas.microsoft.com/office/powerpoint/2010/main" val="907593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B4641-26C6-46E6-B036-CE1D4FC58E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C9624C-12F7-45B6-AF4C-DFAE906BEA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006A7A-837A-4415-9337-0D681781CAA8}"/>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5" name="Footer Placeholder 4">
            <a:extLst>
              <a:ext uri="{FF2B5EF4-FFF2-40B4-BE49-F238E27FC236}">
                <a16:creationId xmlns:a16="http://schemas.microsoft.com/office/drawing/2014/main" id="{90633796-7C33-4818-9013-B28309F9A5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976C-F37C-4F16-943C-82A171A48FBC}"/>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44830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2BD3B-2CB5-4E31-BDDE-644AC6888E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09F802-7369-482F-9A86-C0C00F9F09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116FE-FC4A-4A4C-9717-6C06976EA7B7}"/>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5" name="Footer Placeholder 4">
            <a:extLst>
              <a:ext uri="{FF2B5EF4-FFF2-40B4-BE49-F238E27FC236}">
                <a16:creationId xmlns:a16="http://schemas.microsoft.com/office/drawing/2014/main" id="{E6067F57-55CB-46FF-A164-ECD9BAB8E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A6CD-0188-4A55-9A30-F64290D0AD99}"/>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1945049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C923C-C58D-417B-A8D2-0F7621F37D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5B1452-FB85-4BDA-AC9D-03CA08F9DD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9ACB25-52FB-44D1-A512-A53C1C6F84E7}"/>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5" name="Footer Placeholder 4">
            <a:extLst>
              <a:ext uri="{FF2B5EF4-FFF2-40B4-BE49-F238E27FC236}">
                <a16:creationId xmlns:a16="http://schemas.microsoft.com/office/drawing/2014/main" id="{88DE9A16-60FE-4530-B8D0-22538968D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27AE9-00BC-442B-BF29-1255759FE9C7}"/>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135246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EEE45-5086-49B7-8388-110EC2D970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3F893-A127-47FB-B4B1-4B627C99FA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9FA64A-30A5-4373-994C-AECA0BB790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A2C9C0-6DC1-4D53-94AD-D92B03732300}"/>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6" name="Footer Placeholder 5">
            <a:extLst>
              <a:ext uri="{FF2B5EF4-FFF2-40B4-BE49-F238E27FC236}">
                <a16:creationId xmlns:a16="http://schemas.microsoft.com/office/drawing/2014/main" id="{69DEAC1F-5E3B-4146-A255-C6D6C7139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C218E-135E-4004-B557-ED9B57B89E60}"/>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418320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4098A-E458-466C-A3C0-87859678DD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95A632-0A76-4EBE-B98A-F23E10D96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0E2A9A-AC21-475D-9599-E7F1A7EFC6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D600D7-AE2D-44A0-8D1F-03C5935FF6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3E67EE-D0DA-44AE-8C6E-583380B7C8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F3E767-AC6F-4FCD-8017-8E3C1B95D081}"/>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8" name="Footer Placeholder 7">
            <a:extLst>
              <a:ext uri="{FF2B5EF4-FFF2-40B4-BE49-F238E27FC236}">
                <a16:creationId xmlns:a16="http://schemas.microsoft.com/office/drawing/2014/main" id="{B6B0B958-0917-44BF-96BF-46D036D8A1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0755A6-3C81-44D5-9CBB-A231F23EE7DA}"/>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1986816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1D571-09FF-4807-B759-A536B220BF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F42CD1-6270-4CD8-9FD8-183466CC140E}"/>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4" name="Footer Placeholder 3">
            <a:extLst>
              <a:ext uri="{FF2B5EF4-FFF2-40B4-BE49-F238E27FC236}">
                <a16:creationId xmlns:a16="http://schemas.microsoft.com/office/drawing/2014/main" id="{D32FB252-1C4E-43EC-802F-11BA6B6715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FD36F1-1B12-400A-8A81-3F3C61DCDBA1}"/>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3605432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F4CAC8-71AC-4971-BF17-D580AF6FB924}"/>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3" name="Footer Placeholder 2">
            <a:extLst>
              <a:ext uri="{FF2B5EF4-FFF2-40B4-BE49-F238E27FC236}">
                <a16:creationId xmlns:a16="http://schemas.microsoft.com/office/drawing/2014/main" id="{EAC7FFBE-F628-479B-B9CE-BFE0900626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AA7F3B-CF61-4B9C-906C-5E9B6735C7BB}"/>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837350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74425-140E-41AF-9338-B6B054D8EB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DC4041-017A-4B53-8273-17E523ABBB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34A587-8C65-48F8-8464-511A4D39B7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E1909-C573-46C7-8930-8F2B45F7B405}"/>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6" name="Footer Placeholder 5">
            <a:extLst>
              <a:ext uri="{FF2B5EF4-FFF2-40B4-BE49-F238E27FC236}">
                <a16:creationId xmlns:a16="http://schemas.microsoft.com/office/drawing/2014/main" id="{12A55C8C-F99C-41EF-8357-5F7EA0D6D5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A58C5-7BD8-4F28-8BFA-30F8023BEEF4}"/>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4181632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D41A4-8684-4C5B-B160-3281EB0D0D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F16913-9E9A-4DF7-9DCF-F01DDF1DB7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C5C997-AB8A-4F53-B19A-CF62E85F77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781A67-D490-4FE9-A80B-DD9482DD1127}"/>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6" name="Footer Placeholder 5">
            <a:extLst>
              <a:ext uri="{FF2B5EF4-FFF2-40B4-BE49-F238E27FC236}">
                <a16:creationId xmlns:a16="http://schemas.microsoft.com/office/drawing/2014/main" id="{CADD6CAC-5738-4F19-85CE-FE82A75F0C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6489A4-579E-46DF-944D-C415F40184F5}"/>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299711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88AC-4FFD-4640-A07D-B6B1A3EA76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33C247-BFF2-44D5-9ECA-EB865D62E5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75DD31-5670-4540-94BE-18B066FDA09F}"/>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5" name="Footer Placeholder 4">
            <a:extLst>
              <a:ext uri="{FF2B5EF4-FFF2-40B4-BE49-F238E27FC236}">
                <a16:creationId xmlns:a16="http://schemas.microsoft.com/office/drawing/2014/main" id="{54AEDE8E-80DD-44C5-9A3D-7827957F9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392D58-3E9C-4E30-9FCF-440EAB699081}"/>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1840397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FDDD82-F226-427B-813C-FDE59A7BD1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448570-A163-46B8-9865-000D333506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23A6C4-E8B5-4B3C-95EE-76374C7E83D3}"/>
              </a:ext>
            </a:extLst>
          </p:cNvPr>
          <p:cNvSpPr>
            <a:spLocks noGrp="1"/>
          </p:cNvSpPr>
          <p:nvPr>
            <p:ph type="dt" sz="half" idx="10"/>
          </p:nvPr>
        </p:nvSpPr>
        <p:spPr/>
        <p:txBody>
          <a:bodyPr/>
          <a:lstStyle/>
          <a:p>
            <a:fld id="{86B29217-1BB2-479E-9A8A-130527D52474}" type="datetimeFigureOut">
              <a:rPr lang="en-US" smtClean="0"/>
              <a:t>9/26/2026</a:t>
            </a:fld>
            <a:endParaRPr lang="en-US"/>
          </a:p>
        </p:txBody>
      </p:sp>
      <p:sp>
        <p:nvSpPr>
          <p:cNvPr id="5" name="Footer Placeholder 4">
            <a:extLst>
              <a:ext uri="{FF2B5EF4-FFF2-40B4-BE49-F238E27FC236}">
                <a16:creationId xmlns:a16="http://schemas.microsoft.com/office/drawing/2014/main" id="{A19F5C59-3E1C-46DE-91B1-D9DF6D525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9E9D4-BD40-4E20-AD3D-044B8E40D20C}"/>
              </a:ext>
            </a:extLst>
          </p:cNvPr>
          <p:cNvSpPr>
            <a:spLocks noGrp="1"/>
          </p:cNvSpPr>
          <p:nvPr>
            <p:ph type="sldNum" sz="quarter" idx="12"/>
          </p:nvPr>
        </p:nvSpPr>
        <p:spPr/>
        <p:txBody>
          <a:bodyPr/>
          <a:lstStyle/>
          <a:p>
            <a:fld id="{B8B64972-7083-4F61-82C3-A3EB58C18B0A}" type="slidenum">
              <a:rPr lang="en-US" smtClean="0"/>
              <a:t>‹#›</a:t>
            </a:fld>
            <a:endParaRPr lang="en-US"/>
          </a:p>
        </p:txBody>
      </p:sp>
    </p:spTree>
    <p:extLst>
      <p:ext uri="{BB962C8B-B14F-4D97-AF65-F5344CB8AC3E}">
        <p14:creationId xmlns:p14="http://schemas.microsoft.com/office/powerpoint/2010/main" val="479621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44091C-1EF6-4930-A376-FFF9BB4F3D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648F72-A112-46D5-8122-AA59E2BA1E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77313F-9785-4E1A-80C4-127A8510F2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B29217-1BB2-479E-9A8A-130527D52474}" type="datetimeFigureOut">
              <a:rPr lang="en-US" smtClean="0"/>
              <a:t>9/26/2026</a:t>
            </a:fld>
            <a:endParaRPr lang="en-US"/>
          </a:p>
        </p:txBody>
      </p:sp>
      <p:sp>
        <p:nvSpPr>
          <p:cNvPr id="5" name="Footer Placeholder 4">
            <a:extLst>
              <a:ext uri="{FF2B5EF4-FFF2-40B4-BE49-F238E27FC236}">
                <a16:creationId xmlns:a16="http://schemas.microsoft.com/office/drawing/2014/main" id="{AC6D3DD6-BA42-4F8B-BAE3-40A6FE8AC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2A1E4C-6231-48FF-BE87-5D211E1CA3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B64972-7083-4F61-82C3-A3EB58C18B0A}" type="slidenum">
              <a:rPr lang="en-US" smtClean="0"/>
              <a:t>‹#›</a:t>
            </a:fld>
            <a:endParaRPr lang="en-US"/>
          </a:p>
        </p:txBody>
      </p:sp>
    </p:spTree>
    <p:extLst>
      <p:ext uri="{BB962C8B-B14F-4D97-AF65-F5344CB8AC3E}">
        <p14:creationId xmlns:p14="http://schemas.microsoft.com/office/powerpoint/2010/main" val="2262726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9.png"/><Relationship Id="rId3" Type="http://schemas.openxmlformats.org/officeDocument/2006/relationships/image" Target="../media/image1.jpeg"/><Relationship Id="rId7" Type="http://schemas.openxmlformats.org/officeDocument/2006/relationships/image" Target="../media/image4.jpg"/><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image" Target="../media/image7.png"/><Relationship Id="rId5" Type="http://schemas.openxmlformats.org/officeDocument/2006/relationships/image" Target="../media/image3.png"/><Relationship Id="rId10" Type="http://schemas.microsoft.com/office/2007/relationships/hdphoto" Target="../media/hdphoto2.wdp"/><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C9ACAAE7-C82A-4C95-AD30-5B23E9618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2" y="0"/>
            <a:ext cx="12192002" cy="6872062"/>
          </a:xfrm>
          <a:prstGeom prst="rect">
            <a:avLst/>
          </a:prstGeom>
        </p:spPr>
      </p:pic>
      <p:grpSp>
        <p:nvGrpSpPr>
          <p:cNvPr id="17" name="Group 16">
            <a:extLst>
              <a:ext uri="{FF2B5EF4-FFF2-40B4-BE49-F238E27FC236}">
                <a16:creationId xmlns:a16="http://schemas.microsoft.com/office/drawing/2014/main" id="{04171FEA-694D-4BAC-A45F-483C82CA7C92}"/>
              </a:ext>
            </a:extLst>
          </p:cNvPr>
          <p:cNvGrpSpPr/>
          <p:nvPr/>
        </p:nvGrpSpPr>
        <p:grpSpPr>
          <a:xfrm>
            <a:off x="19052" y="28576"/>
            <a:ext cx="1661908" cy="475130"/>
            <a:chOff x="242047" y="420500"/>
            <a:chExt cx="7562850" cy="2162175"/>
          </a:xfrm>
          <a:effectLst>
            <a:glow rad="114300">
              <a:schemeClr val="bg1">
                <a:alpha val="71000"/>
              </a:schemeClr>
            </a:glow>
          </a:effectLst>
        </p:grpSpPr>
        <p:pic>
          <p:nvPicPr>
            <p:cNvPr id="5" name="Picture 4">
              <a:extLst>
                <a:ext uri="{FF2B5EF4-FFF2-40B4-BE49-F238E27FC236}">
                  <a16:creationId xmlns:a16="http://schemas.microsoft.com/office/drawing/2014/main" id="{D5F08834-A56C-4B22-A3B0-651AC04C44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047" y="420500"/>
              <a:ext cx="7562850" cy="2162175"/>
            </a:xfrm>
            <a:prstGeom prst="rect">
              <a:avLst/>
            </a:prstGeom>
          </p:spPr>
        </p:pic>
        <p:sp>
          <p:nvSpPr>
            <p:cNvPr id="6" name="Rectangle 5">
              <a:extLst>
                <a:ext uri="{FF2B5EF4-FFF2-40B4-BE49-F238E27FC236}">
                  <a16:creationId xmlns:a16="http://schemas.microsoft.com/office/drawing/2014/main" id="{4D588A0F-EFDC-4290-AACC-BF347665519E}"/>
                </a:ext>
              </a:extLst>
            </p:cNvPr>
            <p:cNvSpPr/>
            <p:nvPr/>
          </p:nvSpPr>
          <p:spPr>
            <a:xfrm>
              <a:off x="1345406"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5797C93-ECF2-4F29-8473-3CDD6C2C087A}"/>
                </a:ext>
              </a:extLst>
            </p:cNvPr>
            <p:cNvSpPr/>
            <p:nvPr/>
          </p:nvSpPr>
          <p:spPr>
            <a:xfrm>
              <a:off x="1178719"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F613A5A-9B69-4A29-BD1C-F011AF89C438}"/>
                </a:ext>
              </a:extLst>
            </p:cNvPr>
            <p:cNvSpPr/>
            <p:nvPr/>
          </p:nvSpPr>
          <p:spPr>
            <a:xfrm>
              <a:off x="1006079"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B79EDEE-F717-4E80-ADD8-A8EFEBF2082A}"/>
                </a:ext>
              </a:extLst>
            </p:cNvPr>
            <p:cNvSpPr/>
            <p:nvPr/>
          </p:nvSpPr>
          <p:spPr>
            <a:xfrm>
              <a:off x="1514474"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3D1E5A-9756-4E7F-8C81-885F5A107684}"/>
                </a:ext>
              </a:extLst>
            </p:cNvPr>
            <p:cNvSpPr/>
            <p:nvPr/>
          </p:nvSpPr>
          <p:spPr>
            <a:xfrm>
              <a:off x="840582"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3D2BF6C-EC61-4E64-8FD0-905DE4ACF072}"/>
                </a:ext>
              </a:extLst>
            </p:cNvPr>
            <p:cNvSpPr/>
            <p:nvPr/>
          </p:nvSpPr>
          <p:spPr>
            <a:xfrm>
              <a:off x="1681161"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E19F11-5BA4-4436-ACBB-437FA667A978}"/>
                </a:ext>
              </a:extLst>
            </p:cNvPr>
            <p:cNvSpPr/>
            <p:nvPr/>
          </p:nvSpPr>
          <p:spPr>
            <a:xfrm>
              <a:off x="1512093"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2514A6B-0CDA-4DFF-80C5-DDF06D7963EF}"/>
                </a:ext>
              </a:extLst>
            </p:cNvPr>
            <p:cNvSpPr/>
            <p:nvPr/>
          </p:nvSpPr>
          <p:spPr>
            <a:xfrm>
              <a:off x="1343025"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B3FC802-937D-4999-92A8-617C4D129B0A}"/>
                </a:ext>
              </a:extLst>
            </p:cNvPr>
            <p:cNvSpPr/>
            <p:nvPr/>
          </p:nvSpPr>
          <p:spPr>
            <a:xfrm>
              <a:off x="1173957"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65D2CC5-9DE7-44ED-A591-93B2F2C139B4}"/>
                </a:ext>
              </a:extLst>
            </p:cNvPr>
            <p:cNvSpPr/>
            <p:nvPr/>
          </p:nvSpPr>
          <p:spPr>
            <a:xfrm>
              <a:off x="1007270"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05C98F6-9A23-4B0E-81BA-3C8E9CA1A5F4}"/>
                </a:ext>
              </a:extLst>
            </p:cNvPr>
            <p:cNvSpPr/>
            <p:nvPr/>
          </p:nvSpPr>
          <p:spPr>
            <a:xfrm>
              <a:off x="1678779"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B09CC6E6-F45D-47DE-883B-6AC473FC7910}"/>
              </a:ext>
            </a:extLst>
          </p:cNvPr>
          <p:cNvGrpSpPr/>
          <p:nvPr/>
        </p:nvGrpSpPr>
        <p:grpSpPr>
          <a:xfrm>
            <a:off x="234747" y="4306890"/>
            <a:ext cx="4925219" cy="2443107"/>
            <a:chOff x="1203284" y="1482112"/>
            <a:chExt cx="9830248" cy="4540411"/>
          </a:xfrm>
          <a:effectLst>
            <a:glow rad="63500">
              <a:schemeClr val="accent5">
                <a:satMod val="175000"/>
                <a:alpha val="40000"/>
              </a:schemeClr>
            </a:glow>
          </a:effectLst>
        </p:grpSpPr>
        <p:sp>
          <p:nvSpPr>
            <p:cNvPr id="22" name="Rectangle 21">
              <a:extLst>
                <a:ext uri="{FF2B5EF4-FFF2-40B4-BE49-F238E27FC236}">
                  <a16:creationId xmlns:a16="http://schemas.microsoft.com/office/drawing/2014/main" id="{B09A421D-B721-4147-979F-97F639D09F98}"/>
                </a:ext>
              </a:extLst>
            </p:cNvPr>
            <p:cNvSpPr/>
            <p:nvPr/>
          </p:nvSpPr>
          <p:spPr>
            <a:xfrm>
              <a:off x="10478014" y="1482112"/>
              <a:ext cx="280320" cy="4357366"/>
            </a:xfrm>
            <a:prstGeom prst="rect">
              <a:avLst/>
            </a:prstGeom>
            <a:solidFill>
              <a:srgbClr val="010108">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4" name="Oval 23">
              <a:extLst>
                <a:ext uri="{FF2B5EF4-FFF2-40B4-BE49-F238E27FC236}">
                  <a16:creationId xmlns:a16="http://schemas.microsoft.com/office/drawing/2014/main" id="{9967B284-6607-4D72-912F-D7C77E57E8F5}"/>
                </a:ext>
              </a:extLst>
            </p:cNvPr>
            <p:cNvSpPr/>
            <p:nvPr/>
          </p:nvSpPr>
          <p:spPr>
            <a:xfrm>
              <a:off x="9081408" y="3302000"/>
              <a:ext cx="266700" cy="254000"/>
            </a:xfrm>
            <a:prstGeom prst="ellipse">
              <a:avLst/>
            </a:prstGeom>
            <a:solidFill>
              <a:schemeClr val="accent1">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5" name="TextBox 24">
              <a:extLst>
                <a:ext uri="{FF2B5EF4-FFF2-40B4-BE49-F238E27FC236}">
                  <a16:creationId xmlns:a16="http://schemas.microsoft.com/office/drawing/2014/main" id="{2F287DA0-CBAD-479A-A599-E93450BC82DC}"/>
                </a:ext>
              </a:extLst>
            </p:cNvPr>
            <p:cNvSpPr txBox="1"/>
            <p:nvPr/>
          </p:nvSpPr>
          <p:spPr>
            <a:xfrm>
              <a:off x="3811794" y="1551226"/>
              <a:ext cx="2941447" cy="561324"/>
            </a:xfrm>
            <a:prstGeom prst="rect">
              <a:avLst/>
            </a:prstGeom>
            <a:noFill/>
          </p:spPr>
          <p:txBody>
            <a:bodyPr wrap="none" rtlCol="0">
              <a:spAutoFit/>
            </a:bodyPr>
            <a:lstStyle/>
            <a:p>
              <a:pPr algn="l"/>
              <a:r>
                <a:rPr lang="en-US" sz="1100" dirty="0">
                  <a:solidFill>
                    <a:schemeClr val="bg1"/>
                  </a:solidFill>
                </a:rPr>
                <a:t>FISHBONE DIAGRAM</a:t>
              </a:r>
            </a:p>
          </p:txBody>
        </p:sp>
        <p:pic>
          <p:nvPicPr>
            <p:cNvPr id="26" name="Picture 25">
              <a:extLst>
                <a:ext uri="{FF2B5EF4-FFF2-40B4-BE49-F238E27FC236}">
                  <a16:creationId xmlns:a16="http://schemas.microsoft.com/office/drawing/2014/main" id="{91BA05BA-95FB-4F8B-B0E8-304D8EB55856}"/>
                </a:ext>
              </a:extLst>
            </p:cNvPr>
            <p:cNvPicPr>
              <a:picLocks noChangeAspect="1"/>
            </p:cNvPicPr>
            <p:nvPr/>
          </p:nvPicPr>
          <p:blipFill>
            <a:blip r:embed="rId5" cstate="email">
              <a:alphaModFix amt="59000"/>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a:xfrm>
              <a:off x="1203284" y="1497842"/>
              <a:ext cx="9291946" cy="4524681"/>
            </a:xfrm>
            <a:custGeom>
              <a:avLst/>
              <a:gdLst>
                <a:gd name="connsiteX0" fmla="*/ 614412 w 9291947"/>
                <a:gd name="connsiteY0" fmla="*/ 0 h 4524681"/>
                <a:gd name="connsiteX1" fmla="*/ 9291947 w 9291947"/>
                <a:gd name="connsiteY1" fmla="*/ 0 h 4524681"/>
                <a:gd name="connsiteX2" fmla="*/ 9291947 w 9291947"/>
                <a:gd name="connsiteY2" fmla="*/ 4356377 h 4524681"/>
                <a:gd name="connsiteX3" fmla="*/ 6838951 w 9291947"/>
                <a:gd name="connsiteY3" fmla="*/ 4356377 h 4524681"/>
                <a:gd name="connsiteX4" fmla="*/ 6670647 w 9291947"/>
                <a:gd name="connsiteY4" fmla="*/ 4524681 h 4524681"/>
                <a:gd name="connsiteX5" fmla="*/ 0 w 9291947"/>
                <a:gd name="connsiteY5" fmla="*/ 4524681 h 4524681"/>
                <a:gd name="connsiteX6" fmla="*/ 0 w 9291947"/>
                <a:gd name="connsiteY6" fmla="*/ 614412 h 452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91947" h="4524681">
                  <a:moveTo>
                    <a:pt x="614412" y="0"/>
                  </a:moveTo>
                  <a:lnTo>
                    <a:pt x="9291947" y="0"/>
                  </a:lnTo>
                  <a:lnTo>
                    <a:pt x="9291947" y="4356377"/>
                  </a:lnTo>
                  <a:lnTo>
                    <a:pt x="6838951" y="4356377"/>
                  </a:lnTo>
                  <a:lnTo>
                    <a:pt x="6670647" y="4524681"/>
                  </a:lnTo>
                  <a:lnTo>
                    <a:pt x="0" y="4524681"/>
                  </a:lnTo>
                  <a:lnTo>
                    <a:pt x="0" y="614412"/>
                  </a:lnTo>
                  <a:close/>
                </a:path>
              </a:pathLst>
            </a:custGeom>
          </p:spPr>
        </p:pic>
        <p:sp>
          <p:nvSpPr>
            <p:cNvPr id="27" name="TextBox 26">
              <a:extLst>
                <a:ext uri="{FF2B5EF4-FFF2-40B4-BE49-F238E27FC236}">
                  <a16:creationId xmlns:a16="http://schemas.microsoft.com/office/drawing/2014/main" id="{8659FF01-0763-4922-B448-01233C482BBF}"/>
                </a:ext>
              </a:extLst>
            </p:cNvPr>
            <p:cNvSpPr txBox="1"/>
            <p:nvPr/>
          </p:nvSpPr>
          <p:spPr>
            <a:xfrm>
              <a:off x="3447816" y="1918482"/>
              <a:ext cx="888373" cy="486191"/>
            </a:xfrm>
            <a:prstGeom prst="rect">
              <a:avLst/>
            </a:prstGeom>
            <a:noFill/>
          </p:spPr>
          <p:txBody>
            <a:bodyPr wrap="none" rtlCol="0">
              <a:spAutoFit/>
            </a:bodyPr>
            <a:lstStyle/>
            <a:p>
              <a:pPr algn="l"/>
              <a:r>
                <a:rPr lang="en-US" sz="1100" dirty="0">
                  <a:solidFill>
                    <a:schemeClr val="bg1"/>
                  </a:solidFill>
                </a:rPr>
                <a:t>MAN</a:t>
              </a:r>
            </a:p>
          </p:txBody>
        </p:sp>
        <p:sp>
          <p:nvSpPr>
            <p:cNvPr id="29" name="TextBox 28">
              <a:extLst>
                <a:ext uri="{FF2B5EF4-FFF2-40B4-BE49-F238E27FC236}">
                  <a16:creationId xmlns:a16="http://schemas.microsoft.com/office/drawing/2014/main" id="{2D2FDB13-83EC-4FB5-9B37-4AA60A94D5B3}"/>
                </a:ext>
              </a:extLst>
            </p:cNvPr>
            <p:cNvSpPr txBox="1"/>
            <p:nvPr/>
          </p:nvSpPr>
          <p:spPr>
            <a:xfrm>
              <a:off x="6168185" y="1918983"/>
              <a:ext cx="1651554" cy="486191"/>
            </a:xfrm>
            <a:prstGeom prst="rect">
              <a:avLst/>
            </a:prstGeom>
            <a:noFill/>
          </p:spPr>
          <p:txBody>
            <a:bodyPr wrap="square" rtlCol="0">
              <a:spAutoFit/>
            </a:bodyPr>
            <a:lstStyle/>
            <a:p>
              <a:pPr algn="l"/>
              <a:r>
                <a:rPr lang="en-US" sz="1100" dirty="0">
                  <a:solidFill>
                    <a:schemeClr val="bg1"/>
                  </a:solidFill>
                </a:rPr>
                <a:t>MACHINE</a:t>
              </a:r>
            </a:p>
          </p:txBody>
        </p:sp>
        <p:sp>
          <p:nvSpPr>
            <p:cNvPr id="30" name="TextBox 29">
              <a:extLst>
                <a:ext uri="{FF2B5EF4-FFF2-40B4-BE49-F238E27FC236}">
                  <a16:creationId xmlns:a16="http://schemas.microsoft.com/office/drawing/2014/main" id="{3508AE35-F527-4E63-A8C8-A8B890BB5D1D}"/>
                </a:ext>
              </a:extLst>
            </p:cNvPr>
            <p:cNvSpPr txBox="1"/>
            <p:nvPr/>
          </p:nvSpPr>
          <p:spPr>
            <a:xfrm>
              <a:off x="3219760" y="5084296"/>
              <a:ext cx="1534113" cy="486191"/>
            </a:xfrm>
            <a:prstGeom prst="rect">
              <a:avLst/>
            </a:prstGeom>
            <a:noFill/>
          </p:spPr>
          <p:txBody>
            <a:bodyPr wrap="square" rtlCol="0">
              <a:spAutoFit/>
            </a:bodyPr>
            <a:lstStyle/>
            <a:p>
              <a:pPr algn="l"/>
              <a:r>
                <a:rPr lang="en-US" sz="1100" dirty="0">
                  <a:solidFill>
                    <a:schemeClr val="bg1"/>
                  </a:solidFill>
                </a:rPr>
                <a:t>METHOD</a:t>
              </a:r>
            </a:p>
          </p:txBody>
        </p:sp>
        <p:sp>
          <p:nvSpPr>
            <p:cNvPr id="33" name="TextBox 32">
              <a:extLst>
                <a:ext uri="{FF2B5EF4-FFF2-40B4-BE49-F238E27FC236}">
                  <a16:creationId xmlns:a16="http://schemas.microsoft.com/office/drawing/2014/main" id="{B6B9F4A8-71F8-4335-92B8-4E0523D16D71}"/>
                </a:ext>
              </a:extLst>
            </p:cNvPr>
            <p:cNvSpPr txBox="1"/>
            <p:nvPr/>
          </p:nvSpPr>
          <p:spPr>
            <a:xfrm>
              <a:off x="6111391" y="5093019"/>
              <a:ext cx="1717854" cy="486191"/>
            </a:xfrm>
            <a:prstGeom prst="rect">
              <a:avLst/>
            </a:prstGeom>
            <a:noFill/>
          </p:spPr>
          <p:txBody>
            <a:bodyPr wrap="square" rtlCol="0">
              <a:spAutoFit/>
            </a:bodyPr>
            <a:lstStyle/>
            <a:p>
              <a:pPr algn="l"/>
              <a:r>
                <a:rPr lang="en-US" sz="1100" dirty="0">
                  <a:solidFill>
                    <a:schemeClr val="bg1"/>
                  </a:solidFill>
                </a:rPr>
                <a:t>MATERIAL</a:t>
              </a:r>
            </a:p>
          </p:txBody>
        </p:sp>
        <p:sp>
          <p:nvSpPr>
            <p:cNvPr id="34" name="TextBox 33">
              <a:extLst>
                <a:ext uri="{FF2B5EF4-FFF2-40B4-BE49-F238E27FC236}">
                  <a16:creationId xmlns:a16="http://schemas.microsoft.com/office/drawing/2014/main" id="{556AC33D-206C-43A1-A631-8034D1FCE5DF}"/>
                </a:ext>
              </a:extLst>
            </p:cNvPr>
            <p:cNvSpPr txBox="1"/>
            <p:nvPr/>
          </p:nvSpPr>
          <p:spPr>
            <a:xfrm>
              <a:off x="8337024" y="3903227"/>
              <a:ext cx="2696508" cy="858496"/>
            </a:xfrm>
            <a:prstGeom prst="rect">
              <a:avLst/>
            </a:prstGeom>
            <a:noFill/>
          </p:spPr>
          <p:txBody>
            <a:bodyPr wrap="square" rtlCol="0">
              <a:spAutoFit/>
            </a:bodyPr>
            <a:lstStyle/>
            <a:p>
              <a:pPr algn="ctr"/>
              <a:r>
                <a:rPr lang="en-US" sz="1000" dirty="0">
                  <a:solidFill>
                    <a:schemeClr val="bg1"/>
                  </a:solidFill>
                </a:rPr>
                <a:t>USE OF EXPIRED EPOXY</a:t>
              </a:r>
            </a:p>
          </p:txBody>
        </p:sp>
        <p:sp>
          <p:nvSpPr>
            <p:cNvPr id="35" name="TextBox 34">
              <a:extLst>
                <a:ext uri="{FF2B5EF4-FFF2-40B4-BE49-F238E27FC236}">
                  <a16:creationId xmlns:a16="http://schemas.microsoft.com/office/drawing/2014/main" id="{C0960933-839A-4F1C-9E22-923EFCC04A0B}"/>
                </a:ext>
              </a:extLst>
            </p:cNvPr>
            <p:cNvSpPr txBox="1"/>
            <p:nvPr/>
          </p:nvSpPr>
          <p:spPr>
            <a:xfrm>
              <a:off x="2934069" y="3200401"/>
              <a:ext cx="482218" cy="462267"/>
            </a:xfrm>
            <a:prstGeom prst="rect">
              <a:avLst/>
            </a:prstGeom>
            <a:noFill/>
          </p:spPr>
          <p:txBody>
            <a:bodyPr wrap="none" rtlCol="0">
              <a:spAutoFit/>
            </a:bodyPr>
            <a:lstStyle/>
            <a:p>
              <a:pPr algn="l"/>
              <a:r>
                <a:rPr lang="en-US" sz="800" dirty="0"/>
                <a:t>s</a:t>
              </a:r>
            </a:p>
          </p:txBody>
        </p:sp>
        <p:sp>
          <p:nvSpPr>
            <p:cNvPr id="36" name="Freeform: Shape 35">
              <a:extLst>
                <a:ext uri="{FF2B5EF4-FFF2-40B4-BE49-F238E27FC236}">
                  <a16:creationId xmlns:a16="http://schemas.microsoft.com/office/drawing/2014/main" id="{F0EFD71D-6DDD-4512-91A3-F46F77DD27A1}"/>
                </a:ext>
              </a:extLst>
            </p:cNvPr>
            <p:cNvSpPr/>
            <p:nvPr/>
          </p:nvSpPr>
          <p:spPr>
            <a:xfrm>
              <a:off x="3164120" y="2427593"/>
              <a:ext cx="2146986" cy="1055033"/>
            </a:xfrm>
            <a:custGeom>
              <a:avLst/>
              <a:gdLst>
                <a:gd name="connsiteX0" fmla="*/ 0 w 2146986"/>
                <a:gd name="connsiteY0" fmla="*/ 0 h 1055033"/>
                <a:gd name="connsiteX1" fmla="*/ 1358431 w 2146986"/>
                <a:gd name="connsiteY1" fmla="*/ 0 h 1055033"/>
                <a:gd name="connsiteX2" fmla="*/ 2146986 w 2146986"/>
                <a:gd name="connsiteY2" fmla="*/ 1055033 h 1055033"/>
                <a:gd name="connsiteX3" fmla="*/ 742001 w 2146986"/>
                <a:gd name="connsiteY3" fmla="*/ 1055033 h 1055033"/>
              </a:gdLst>
              <a:ahLst/>
              <a:cxnLst>
                <a:cxn ang="0">
                  <a:pos x="connsiteX0" y="connsiteY0"/>
                </a:cxn>
                <a:cxn ang="0">
                  <a:pos x="connsiteX1" y="connsiteY1"/>
                </a:cxn>
                <a:cxn ang="0">
                  <a:pos x="connsiteX2" y="connsiteY2"/>
                </a:cxn>
                <a:cxn ang="0">
                  <a:pos x="connsiteX3" y="connsiteY3"/>
                </a:cxn>
              </a:cxnLst>
              <a:rect l="l" t="t" r="r" b="b"/>
              <a:pathLst>
                <a:path w="2146986" h="1055033">
                  <a:moveTo>
                    <a:pt x="0" y="0"/>
                  </a:moveTo>
                  <a:lnTo>
                    <a:pt x="1358431" y="0"/>
                  </a:lnTo>
                  <a:lnTo>
                    <a:pt x="2146986" y="1055033"/>
                  </a:lnTo>
                  <a:lnTo>
                    <a:pt x="742001" y="1055033"/>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7" name="TextBox 36">
              <a:extLst>
                <a:ext uri="{FF2B5EF4-FFF2-40B4-BE49-F238E27FC236}">
                  <a16:creationId xmlns:a16="http://schemas.microsoft.com/office/drawing/2014/main" id="{6786C4F3-2F02-45B9-8FC7-BBD59D35380A}"/>
                </a:ext>
              </a:extLst>
            </p:cNvPr>
            <p:cNvSpPr txBox="1"/>
            <p:nvPr/>
          </p:nvSpPr>
          <p:spPr>
            <a:xfrm>
              <a:off x="2691885" y="2278091"/>
              <a:ext cx="3428817" cy="1544373"/>
            </a:xfrm>
            <a:prstGeom prst="rect">
              <a:avLst/>
            </a:prstGeom>
            <a:noFill/>
          </p:spPr>
          <p:txBody>
            <a:bodyPr wrap="square" rtlCol="0">
              <a:spAutoFit/>
            </a:bodyPr>
            <a:lstStyle/>
            <a:p>
              <a:pPr algn="l"/>
              <a:r>
                <a:rPr lang="en-US" sz="600" dirty="0">
                  <a:solidFill>
                    <a:schemeClr val="bg1"/>
                  </a:solidFill>
                </a:rPr>
                <a:t>Failure to check pot-life log before use.</a:t>
              </a:r>
            </a:p>
            <a:p>
              <a:pPr algn="l"/>
              <a:r>
                <a:rPr lang="en-US" sz="600" dirty="0">
                  <a:solidFill>
                    <a:schemeClr val="bg1"/>
                  </a:solidFill>
                </a:rPr>
                <a:t>Misinterpretation of expiration time.</a:t>
              </a:r>
            </a:p>
            <a:p>
              <a:pPr algn="l"/>
              <a:r>
                <a:rPr lang="en-US" sz="600" dirty="0">
                  <a:solidFill>
                    <a:schemeClr val="bg1"/>
                  </a:solidFill>
                </a:rPr>
                <a:t>Operator forgets to record epoxy mix/start time.</a:t>
              </a:r>
            </a:p>
            <a:p>
              <a:pPr algn="l"/>
              <a:r>
                <a:rPr lang="en-US" sz="600" dirty="0">
                  <a:solidFill>
                    <a:schemeClr val="bg1"/>
                  </a:solidFill>
                </a:rPr>
                <a:t>Inadequate training on epoxy handling.</a:t>
              </a:r>
            </a:p>
            <a:p>
              <a:pPr algn="l"/>
              <a:r>
                <a:rPr lang="en-US" sz="600" dirty="0">
                  <a:solidFill>
                    <a:schemeClr val="bg1"/>
                  </a:solidFill>
                </a:rPr>
                <a:t>Lack of awareness of epoxy pot-life requirements.</a:t>
              </a:r>
            </a:p>
            <a:p>
              <a:pPr algn="l"/>
              <a:r>
                <a:rPr lang="en-US" sz="600" dirty="0">
                  <a:solidFill>
                    <a:schemeClr val="bg1"/>
                  </a:solidFill>
                </a:rPr>
                <a:t>Missed monitoring during busy production periods.</a:t>
              </a:r>
            </a:p>
          </p:txBody>
        </p:sp>
        <p:sp>
          <p:nvSpPr>
            <p:cNvPr id="38" name="Freeform: Shape 37">
              <a:extLst>
                <a:ext uri="{FF2B5EF4-FFF2-40B4-BE49-F238E27FC236}">
                  <a16:creationId xmlns:a16="http://schemas.microsoft.com/office/drawing/2014/main" id="{646D0972-75F0-486A-8378-4C612B6801AF}"/>
                </a:ext>
              </a:extLst>
            </p:cNvPr>
            <p:cNvSpPr/>
            <p:nvPr/>
          </p:nvSpPr>
          <p:spPr>
            <a:xfrm>
              <a:off x="3174680" y="3903227"/>
              <a:ext cx="2249873" cy="1205398"/>
            </a:xfrm>
            <a:custGeom>
              <a:avLst/>
              <a:gdLst>
                <a:gd name="connsiteX0" fmla="*/ 899550 w 2249873"/>
                <a:gd name="connsiteY0" fmla="*/ 0 h 1205398"/>
                <a:gd name="connsiteX1" fmla="*/ 2249873 w 2249873"/>
                <a:gd name="connsiteY1" fmla="*/ 0 h 1205398"/>
                <a:gd name="connsiteX2" fmla="*/ 1286199 w 2249873"/>
                <a:gd name="connsiteY2" fmla="*/ 1205398 h 1205398"/>
                <a:gd name="connsiteX3" fmla="*/ 0 w 2249873"/>
                <a:gd name="connsiteY3" fmla="*/ 1205398 h 1205398"/>
              </a:gdLst>
              <a:ahLst/>
              <a:cxnLst>
                <a:cxn ang="0">
                  <a:pos x="connsiteX0" y="connsiteY0"/>
                </a:cxn>
                <a:cxn ang="0">
                  <a:pos x="connsiteX1" y="connsiteY1"/>
                </a:cxn>
                <a:cxn ang="0">
                  <a:pos x="connsiteX2" y="connsiteY2"/>
                </a:cxn>
                <a:cxn ang="0">
                  <a:pos x="connsiteX3" y="connsiteY3"/>
                </a:cxn>
              </a:cxnLst>
              <a:rect l="l" t="t" r="r" b="b"/>
              <a:pathLst>
                <a:path w="2249873" h="1205398">
                  <a:moveTo>
                    <a:pt x="899550" y="0"/>
                  </a:moveTo>
                  <a:lnTo>
                    <a:pt x="2249873" y="0"/>
                  </a:lnTo>
                  <a:lnTo>
                    <a:pt x="1286199" y="1205398"/>
                  </a:lnTo>
                  <a:lnTo>
                    <a:pt x="0" y="1205398"/>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9" name="TextBox 38">
              <a:extLst>
                <a:ext uri="{FF2B5EF4-FFF2-40B4-BE49-F238E27FC236}">
                  <a16:creationId xmlns:a16="http://schemas.microsoft.com/office/drawing/2014/main" id="{7086736F-5B64-4101-A48B-2DCF3DC31F42}"/>
                </a:ext>
              </a:extLst>
            </p:cNvPr>
            <p:cNvSpPr txBox="1"/>
            <p:nvPr/>
          </p:nvSpPr>
          <p:spPr>
            <a:xfrm>
              <a:off x="2691883" y="3883496"/>
              <a:ext cx="3347069" cy="1201179"/>
            </a:xfrm>
            <a:prstGeom prst="rect">
              <a:avLst/>
            </a:prstGeom>
            <a:noFill/>
          </p:spPr>
          <p:txBody>
            <a:bodyPr wrap="square" rtlCol="0">
              <a:spAutoFit/>
            </a:bodyPr>
            <a:lstStyle/>
            <a:p>
              <a:pPr algn="l"/>
              <a:r>
                <a:rPr lang="en-US" sz="600" b="1" u="sng" dirty="0">
                  <a:solidFill>
                    <a:srgbClr val="F1C400"/>
                  </a:solidFill>
                </a:rPr>
                <a:t>Manual detection and control</a:t>
              </a:r>
            </a:p>
            <a:p>
              <a:pPr algn="l"/>
              <a:r>
                <a:rPr lang="en-US" sz="600" dirty="0">
                  <a:solidFill>
                    <a:schemeClr val="bg1"/>
                  </a:solidFill>
                </a:rPr>
                <a:t>-Inconsistent timing and tracking methods.</a:t>
              </a:r>
            </a:p>
            <a:p>
              <a:pPr algn="l"/>
              <a:r>
                <a:rPr lang="en-US" sz="600" dirty="0">
                  <a:solidFill>
                    <a:schemeClr val="bg1"/>
                  </a:solidFill>
                </a:rPr>
                <a:t>-Delayed identification of expired epoxy.</a:t>
              </a:r>
            </a:p>
            <a:p>
              <a:pPr algn="l"/>
              <a:r>
                <a:rPr lang="en-US" sz="600" dirty="0">
                  <a:solidFill>
                    <a:schemeClr val="bg1"/>
                  </a:solidFill>
                </a:rPr>
                <a:t>-No standardized epoxy pot-life monitoring procedure.</a:t>
              </a:r>
            </a:p>
            <a:p>
              <a:pPr algn="l"/>
              <a:r>
                <a:rPr lang="en-US" sz="600" dirty="0">
                  <a:solidFill>
                    <a:schemeClr val="bg1"/>
                  </a:solidFill>
                </a:rPr>
                <a:t>Lack of reaction plan when pot life is exceeded.</a:t>
              </a:r>
            </a:p>
          </p:txBody>
        </p:sp>
        <p:sp>
          <p:nvSpPr>
            <p:cNvPr id="40" name="Freeform: Shape 39">
              <a:extLst>
                <a:ext uri="{FF2B5EF4-FFF2-40B4-BE49-F238E27FC236}">
                  <a16:creationId xmlns:a16="http://schemas.microsoft.com/office/drawing/2014/main" id="{CACB35C5-5116-4694-AF0E-53E068961A71}"/>
                </a:ext>
              </a:extLst>
            </p:cNvPr>
            <p:cNvSpPr/>
            <p:nvPr/>
          </p:nvSpPr>
          <p:spPr>
            <a:xfrm>
              <a:off x="6130890" y="2427593"/>
              <a:ext cx="2304184" cy="1204934"/>
            </a:xfrm>
            <a:custGeom>
              <a:avLst/>
              <a:gdLst>
                <a:gd name="connsiteX0" fmla="*/ 0 w 2304184"/>
                <a:gd name="connsiteY0" fmla="*/ 0 h 1204934"/>
                <a:gd name="connsiteX1" fmla="*/ 1375006 w 2304184"/>
                <a:gd name="connsiteY1" fmla="*/ 0 h 1204934"/>
                <a:gd name="connsiteX2" fmla="*/ 2304184 w 2304184"/>
                <a:gd name="connsiteY2" fmla="*/ 1204934 h 1204934"/>
                <a:gd name="connsiteX3" fmla="*/ 928625 w 2304184"/>
                <a:gd name="connsiteY3" fmla="*/ 1204934 h 1204934"/>
                <a:gd name="connsiteX4" fmla="*/ 193710 w 2304184"/>
                <a:gd name="connsiteY4" fmla="*/ 309257 h 1204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4184" h="1204934">
                  <a:moveTo>
                    <a:pt x="0" y="0"/>
                  </a:moveTo>
                  <a:lnTo>
                    <a:pt x="1375006" y="0"/>
                  </a:lnTo>
                  <a:lnTo>
                    <a:pt x="2304184" y="1204934"/>
                  </a:lnTo>
                  <a:lnTo>
                    <a:pt x="928625" y="1204934"/>
                  </a:lnTo>
                  <a:lnTo>
                    <a:pt x="193710" y="309257"/>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41" name="TextBox 40">
              <a:extLst>
                <a:ext uri="{FF2B5EF4-FFF2-40B4-BE49-F238E27FC236}">
                  <a16:creationId xmlns:a16="http://schemas.microsoft.com/office/drawing/2014/main" id="{B564C673-B629-4945-8238-C2022A56F75F}"/>
                </a:ext>
              </a:extLst>
            </p:cNvPr>
            <p:cNvSpPr txBox="1"/>
            <p:nvPr/>
          </p:nvSpPr>
          <p:spPr>
            <a:xfrm>
              <a:off x="5883645" y="2333427"/>
              <a:ext cx="2872255" cy="1372776"/>
            </a:xfrm>
            <a:prstGeom prst="rect">
              <a:avLst/>
            </a:prstGeom>
            <a:noFill/>
          </p:spPr>
          <p:txBody>
            <a:bodyPr wrap="square" rtlCol="0">
              <a:spAutoFit/>
            </a:bodyPr>
            <a:lstStyle/>
            <a:p>
              <a:pPr algn="l"/>
              <a:r>
                <a:rPr lang="en-US" sz="600" dirty="0">
                  <a:solidFill>
                    <a:schemeClr val="bg1"/>
                  </a:solidFill>
                </a:rPr>
                <a:t>No automatic pot-life timer available.</a:t>
              </a:r>
            </a:p>
            <a:p>
              <a:pPr algn="l"/>
              <a:r>
                <a:rPr lang="en-US" sz="600" dirty="0">
                  <a:solidFill>
                    <a:schemeClr val="bg1"/>
                  </a:solidFill>
                </a:rPr>
                <a:t>HMI or workstation does not display remaining pot life.</a:t>
              </a:r>
            </a:p>
            <a:p>
              <a:pPr algn="l"/>
              <a:r>
                <a:rPr lang="en-US" sz="600" dirty="0">
                  <a:solidFill>
                    <a:schemeClr val="bg1"/>
                  </a:solidFill>
                </a:rPr>
                <a:t>Computerized tracking system unavailable or offline.</a:t>
              </a:r>
            </a:p>
            <a:p>
              <a:pPr algn="l"/>
              <a:r>
                <a:rPr lang="en-US" sz="600" dirty="0">
                  <a:solidFill>
                    <a:schemeClr val="bg1"/>
                  </a:solidFill>
                </a:rPr>
                <a:t>Lack of Fail-Safe Control to Prevent Operation Beyond Epoxy Pot-Life</a:t>
              </a:r>
            </a:p>
          </p:txBody>
        </p:sp>
        <p:sp>
          <p:nvSpPr>
            <p:cNvPr id="42" name="Freeform: Shape 41">
              <a:extLst>
                <a:ext uri="{FF2B5EF4-FFF2-40B4-BE49-F238E27FC236}">
                  <a16:creationId xmlns:a16="http://schemas.microsoft.com/office/drawing/2014/main" id="{3391CDD8-1256-4AED-B857-E72F1FB633B9}"/>
                </a:ext>
              </a:extLst>
            </p:cNvPr>
            <p:cNvSpPr/>
            <p:nvPr/>
          </p:nvSpPr>
          <p:spPr>
            <a:xfrm>
              <a:off x="6006258" y="3830730"/>
              <a:ext cx="2444832" cy="1286902"/>
            </a:xfrm>
            <a:custGeom>
              <a:avLst/>
              <a:gdLst>
                <a:gd name="connsiteX0" fmla="*/ 1116769 w 2444832"/>
                <a:gd name="connsiteY0" fmla="*/ 0 h 1286902"/>
                <a:gd name="connsiteX1" fmla="*/ 2444832 w 2444832"/>
                <a:gd name="connsiteY1" fmla="*/ 0 h 1286902"/>
                <a:gd name="connsiteX2" fmla="*/ 1459017 w 2444832"/>
                <a:gd name="connsiteY2" fmla="*/ 1286902 h 1286902"/>
                <a:gd name="connsiteX3" fmla="*/ 0 w 2444832"/>
                <a:gd name="connsiteY3" fmla="*/ 1286902 h 1286902"/>
              </a:gdLst>
              <a:ahLst/>
              <a:cxnLst>
                <a:cxn ang="0">
                  <a:pos x="connsiteX0" y="connsiteY0"/>
                </a:cxn>
                <a:cxn ang="0">
                  <a:pos x="connsiteX1" y="connsiteY1"/>
                </a:cxn>
                <a:cxn ang="0">
                  <a:pos x="connsiteX2" y="connsiteY2"/>
                </a:cxn>
                <a:cxn ang="0">
                  <a:pos x="connsiteX3" y="connsiteY3"/>
                </a:cxn>
              </a:cxnLst>
              <a:rect l="l" t="t" r="r" b="b"/>
              <a:pathLst>
                <a:path w="2444832" h="1286902">
                  <a:moveTo>
                    <a:pt x="1116769" y="0"/>
                  </a:moveTo>
                  <a:lnTo>
                    <a:pt x="2444832" y="0"/>
                  </a:lnTo>
                  <a:lnTo>
                    <a:pt x="1459017" y="1286902"/>
                  </a:lnTo>
                  <a:lnTo>
                    <a:pt x="0" y="1286902"/>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43" name="TextBox 42">
              <a:extLst>
                <a:ext uri="{FF2B5EF4-FFF2-40B4-BE49-F238E27FC236}">
                  <a16:creationId xmlns:a16="http://schemas.microsoft.com/office/drawing/2014/main" id="{5EB88FA7-6931-4E6B-8CD9-45EC8203F9BC}"/>
                </a:ext>
              </a:extLst>
            </p:cNvPr>
            <p:cNvSpPr txBox="1"/>
            <p:nvPr/>
          </p:nvSpPr>
          <p:spPr>
            <a:xfrm>
              <a:off x="5899981" y="3695920"/>
              <a:ext cx="2821399" cy="1544373"/>
            </a:xfrm>
            <a:prstGeom prst="rect">
              <a:avLst/>
            </a:prstGeom>
            <a:noFill/>
          </p:spPr>
          <p:txBody>
            <a:bodyPr wrap="square" rtlCol="0">
              <a:spAutoFit/>
            </a:bodyPr>
            <a:lstStyle/>
            <a:p>
              <a:pPr algn="l"/>
              <a:r>
                <a:rPr lang="en-US" sz="600" dirty="0">
                  <a:solidFill>
                    <a:schemeClr val="bg1"/>
                  </a:solidFill>
                </a:rPr>
                <a:t>Epoxy pot life is short and difficult to track manually.</a:t>
              </a:r>
            </a:p>
            <a:p>
              <a:pPr algn="l"/>
              <a:r>
                <a:rPr lang="en-US" sz="600" dirty="0">
                  <a:solidFill>
                    <a:schemeClr val="bg1"/>
                  </a:solidFill>
                </a:rPr>
                <a:t>Temperature-sensitive epoxy with reduced actual pot life..</a:t>
              </a:r>
            </a:p>
            <a:p>
              <a:pPr algn="l"/>
              <a:r>
                <a:rPr lang="en-US" sz="600" dirty="0">
                  <a:solidFill>
                    <a:schemeClr val="bg1"/>
                  </a:solidFill>
                </a:rPr>
                <a:t>Excess epoxy prepared, increasing risk of prolonged use.</a:t>
              </a:r>
            </a:p>
            <a:p>
              <a:pPr algn="l"/>
              <a:r>
                <a:rPr lang="en-US" sz="600" dirty="0">
                  <a:solidFill>
                    <a:schemeClr val="bg1"/>
                  </a:solidFill>
                </a:rPr>
                <a:t>Different epoxy types have different pot-life limits.</a:t>
              </a:r>
            </a:p>
          </p:txBody>
        </p:sp>
      </p:grpSp>
      <p:sp>
        <p:nvSpPr>
          <p:cNvPr id="48" name="Freeform: Shape 47">
            <a:extLst>
              <a:ext uri="{FF2B5EF4-FFF2-40B4-BE49-F238E27FC236}">
                <a16:creationId xmlns:a16="http://schemas.microsoft.com/office/drawing/2014/main" id="{0DCA24A1-D0FC-4D84-ACA2-E9342E1EFD90}"/>
              </a:ext>
            </a:extLst>
          </p:cNvPr>
          <p:cNvSpPr/>
          <p:nvPr/>
        </p:nvSpPr>
        <p:spPr>
          <a:xfrm>
            <a:off x="1193172" y="4056060"/>
            <a:ext cx="2288437" cy="295413"/>
          </a:xfrm>
          <a:custGeom>
            <a:avLst/>
            <a:gdLst>
              <a:gd name="connsiteX0" fmla="*/ 1193476 w 2288437"/>
              <a:gd name="connsiteY0" fmla="*/ 0 h 295413"/>
              <a:gd name="connsiteX1" fmla="*/ 1795397 w 2288437"/>
              <a:gd name="connsiteY1" fmla="*/ 0 h 295413"/>
              <a:gd name="connsiteX2" fmla="*/ 1847563 w 2288437"/>
              <a:gd name="connsiteY2" fmla="*/ 56924 h 295413"/>
              <a:gd name="connsiteX3" fmla="*/ 1895717 w 2288437"/>
              <a:gd name="connsiteY3" fmla="*/ 61303 h 295413"/>
              <a:gd name="connsiteX4" fmla="*/ 2135487 w 2288437"/>
              <a:gd name="connsiteY4" fmla="*/ 61303 h 295413"/>
              <a:gd name="connsiteX5" fmla="*/ 2288437 w 2288437"/>
              <a:gd name="connsiteY5" fmla="*/ 204243 h 295413"/>
              <a:gd name="connsiteX6" fmla="*/ 2288437 w 2288437"/>
              <a:gd name="connsiteY6" fmla="*/ 273149 h 295413"/>
              <a:gd name="connsiteX7" fmla="*/ 2089791 w 2288437"/>
              <a:gd name="connsiteY7" fmla="*/ 273149 h 295413"/>
              <a:gd name="connsiteX8" fmla="*/ 2081396 w 2288437"/>
              <a:gd name="connsiteY8" fmla="*/ 274733 h 295413"/>
              <a:gd name="connsiteX9" fmla="*/ 2079312 w 2288437"/>
              <a:gd name="connsiteY9" fmla="*/ 276046 h 295413"/>
              <a:gd name="connsiteX10" fmla="*/ 2031484 w 2288437"/>
              <a:gd name="connsiteY10" fmla="*/ 276046 h 295413"/>
              <a:gd name="connsiteX11" fmla="*/ 927962 w 2288437"/>
              <a:gd name="connsiteY11" fmla="*/ 276046 h 295413"/>
              <a:gd name="connsiteX12" fmla="*/ 910213 w 2288437"/>
              <a:gd name="connsiteY12" fmla="*/ 295413 h 295413"/>
              <a:gd name="connsiteX13" fmla="*/ 0 w 2288437"/>
              <a:gd name="connsiteY13" fmla="*/ 295413 h 295413"/>
              <a:gd name="connsiteX14" fmla="*/ 0 w 2288437"/>
              <a:gd name="connsiteY14" fmla="*/ 83197 h 295413"/>
              <a:gd name="connsiteX15" fmla="*/ 1117233 w 2288437"/>
              <a:gd name="connsiteY15" fmla="*/ 83197 h 29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8437" h="295413">
                <a:moveTo>
                  <a:pt x="1193476" y="0"/>
                </a:moveTo>
                <a:lnTo>
                  <a:pt x="1795397" y="0"/>
                </a:lnTo>
                <a:lnTo>
                  <a:pt x="1847563" y="56924"/>
                </a:lnTo>
                <a:lnTo>
                  <a:pt x="1895717" y="61303"/>
                </a:lnTo>
                <a:lnTo>
                  <a:pt x="2135487" y="61303"/>
                </a:lnTo>
                <a:lnTo>
                  <a:pt x="2288437" y="204243"/>
                </a:lnTo>
                <a:lnTo>
                  <a:pt x="2288437" y="273149"/>
                </a:lnTo>
                <a:lnTo>
                  <a:pt x="2089791" y="273149"/>
                </a:lnTo>
                <a:cubicBezTo>
                  <a:pt x="2086814" y="273149"/>
                  <a:pt x="2083977" y="273713"/>
                  <a:pt x="2081396" y="274733"/>
                </a:cubicBezTo>
                <a:lnTo>
                  <a:pt x="2079312" y="276046"/>
                </a:lnTo>
                <a:lnTo>
                  <a:pt x="2031484" y="276046"/>
                </a:lnTo>
                <a:lnTo>
                  <a:pt x="927962" y="276046"/>
                </a:lnTo>
                <a:lnTo>
                  <a:pt x="910213" y="295413"/>
                </a:lnTo>
                <a:lnTo>
                  <a:pt x="0" y="295413"/>
                </a:lnTo>
                <a:lnTo>
                  <a:pt x="0" y="83197"/>
                </a:lnTo>
                <a:lnTo>
                  <a:pt x="1117233" y="83197"/>
                </a:lnTo>
                <a:close/>
              </a:path>
            </a:pathLst>
          </a:custGeom>
          <a:gradFill flip="none" rotWithShape="1">
            <a:gsLst>
              <a:gs pos="23000">
                <a:srgbClr val="022746">
                  <a:lumMod val="46000"/>
                </a:srgbClr>
              </a:gs>
              <a:gs pos="62000">
                <a:srgbClr val="082F4F"/>
              </a:gs>
              <a:gs pos="91000">
                <a:srgbClr val="082F4F">
                  <a:lumMod val="75000"/>
                  <a:lumOff val="25000"/>
                </a:srgbClr>
              </a:gs>
            </a:gsLst>
            <a:lin ang="3000000" scaled="0"/>
            <a:tileRect/>
          </a:gradFill>
          <a:ln>
            <a:no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00" dirty="0"/>
          </a:p>
        </p:txBody>
      </p:sp>
      <p:sp>
        <p:nvSpPr>
          <p:cNvPr id="47" name="TextBox 46">
            <a:extLst>
              <a:ext uri="{FF2B5EF4-FFF2-40B4-BE49-F238E27FC236}">
                <a16:creationId xmlns:a16="http://schemas.microsoft.com/office/drawing/2014/main" id="{32F6ED88-A837-4333-83D6-BC7FE913F26C}"/>
              </a:ext>
            </a:extLst>
          </p:cNvPr>
          <p:cNvSpPr txBox="1"/>
          <p:nvPr/>
        </p:nvSpPr>
        <p:spPr>
          <a:xfrm>
            <a:off x="1447966" y="4105422"/>
            <a:ext cx="1726087" cy="261610"/>
          </a:xfrm>
          <a:prstGeom prst="rect">
            <a:avLst/>
          </a:prstGeom>
          <a:noFill/>
        </p:spPr>
        <p:txBody>
          <a:bodyPr wrap="square" rtlCol="0">
            <a:spAutoFit/>
          </a:bodyPr>
          <a:lstStyle/>
          <a:p>
            <a:pPr algn="l"/>
            <a:r>
              <a:rPr lang="en-US" sz="1100" dirty="0">
                <a:solidFill>
                  <a:srgbClr val="FDF9FF"/>
                </a:solidFill>
              </a:rPr>
              <a:t>4.0 Root Cause Analysis </a:t>
            </a:r>
          </a:p>
        </p:txBody>
      </p:sp>
      <p:sp>
        <p:nvSpPr>
          <p:cNvPr id="88" name="Freeform: Shape 87">
            <a:extLst>
              <a:ext uri="{FF2B5EF4-FFF2-40B4-BE49-F238E27FC236}">
                <a16:creationId xmlns:a16="http://schemas.microsoft.com/office/drawing/2014/main" id="{F4811D88-7325-4B1F-856A-AC8EBAAA4D72}"/>
              </a:ext>
            </a:extLst>
          </p:cNvPr>
          <p:cNvSpPr/>
          <p:nvPr/>
        </p:nvSpPr>
        <p:spPr>
          <a:xfrm>
            <a:off x="4311768" y="524583"/>
            <a:ext cx="3499423" cy="373220"/>
          </a:xfrm>
          <a:custGeom>
            <a:avLst/>
            <a:gdLst>
              <a:gd name="connsiteX0" fmla="*/ 0 w 3499423"/>
              <a:gd name="connsiteY0" fmla="*/ 0 h 373220"/>
              <a:gd name="connsiteX1" fmla="*/ 1825034 w 3499423"/>
              <a:gd name="connsiteY1" fmla="*/ 0 h 373220"/>
              <a:gd name="connsiteX2" fmla="*/ 1898532 w 3499423"/>
              <a:gd name="connsiteY2" fmla="*/ 0 h 373220"/>
              <a:gd name="connsiteX3" fmla="*/ 2745478 w 3499423"/>
              <a:gd name="connsiteY3" fmla="*/ 0 h 373220"/>
              <a:gd name="connsiteX4" fmla="*/ 2825249 w 3499423"/>
              <a:gd name="connsiteY4" fmla="*/ 64692 h 373220"/>
              <a:gd name="connsiteX5" fmla="*/ 2898885 w 3499423"/>
              <a:gd name="connsiteY5" fmla="*/ 69668 h 373220"/>
              <a:gd name="connsiteX6" fmla="*/ 3499423 w 3499423"/>
              <a:gd name="connsiteY6" fmla="*/ 69668 h 373220"/>
              <a:gd name="connsiteX7" fmla="*/ 3499423 w 3499423"/>
              <a:gd name="connsiteY7" fmla="*/ 310420 h 373220"/>
              <a:gd name="connsiteX8" fmla="*/ 3195659 w 3499423"/>
              <a:gd name="connsiteY8" fmla="*/ 310420 h 373220"/>
              <a:gd name="connsiteX9" fmla="*/ 3182821 w 3499423"/>
              <a:gd name="connsiteY9" fmla="*/ 312221 h 373220"/>
              <a:gd name="connsiteX10" fmla="*/ 3179634 w 3499423"/>
              <a:gd name="connsiteY10" fmla="*/ 313713 h 373220"/>
              <a:gd name="connsiteX11" fmla="*/ 3106496 w 3499423"/>
              <a:gd name="connsiteY11" fmla="*/ 313713 h 373220"/>
              <a:gd name="connsiteX12" fmla="*/ 1419017 w 3499423"/>
              <a:gd name="connsiteY12" fmla="*/ 313713 h 373220"/>
              <a:gd name="connsiteX13" fmla="*/ 1345638 w 3499423"/>
              <a:gd name="connsiteY13" fmla="*/ 373220 h 373220"/>
              <a:gd name="connsiteX14" fmla="*/ 534536 w 3499423"/>
              <a:gd name="connsiteY14" fmla="*/ 373220 h 373220"/>
              <a:gd name="connsiteX15" fmla="*/ 517750 w 3499423"/>
              <a:gd name="connsiteY15" fmla="*/ 349998 h 373220"/>
              <a:gd name="connsiteX16" fmla="*/ 0 w 3499423"/>
              <a:gd name="connsiteY16" fmla="*/ 349998 h 373220"/>
              <a:gd name="connsiteX17" fmla="*/ 0 w 3499423"/>
              <a:gd name="connsiteY17" fmla="*/ 127197 h 373220"/>
              <a:gd name="connsiteX18" fmla="*/ 0 w 3499423"/>
              <a:gd name="connsiteY18" fmla="*/ 94549 h 37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99423" h="373220">
                <a:moveTo>
                  <a:pt x="0" y="0"/>
                </a:moveTo>
                <a:lnTo>
                  <a:pt x="1825034" y="0"/>
                </a:lnTo>
                <a:lnTo>
                  <a:pt x="1898532" y="0"/>
                </a:lnTo>
                <a:lnTo>
                  <a:pt x="2745478" y="0"/>
                </a:lnTo>
                <a:lnTo>
                  <a:pt x="2825249" y="64692"/>
                </a:lnTo>
                <a:lnTo>
                  <a:pt x="2898885" y="69668"/>
                </a:lnTo>
                <a:lnTo>
                  <a:pt x="3499423" y="69668"/>
                </a:lnTo>
                <a:lnTo>
                  <a:pt x="3499423" y="310420"/>
                </a:lnTo>
                <a:lnTo>
                  <a:pt x="3195659" y="310420"/>
                </a:lnTo>
                <a:cubicBezTo>
                  <a:pt x="3191105" y="310420"/>
                  <a:pt x="3186767" y="311062"/>
                  <a:pt x="3182821" y="312221"/>
                </a:cubicBezTo>
                <a:lnTo>
                  <a:pt x="3179634" y="313713"/>
                </a:lnTo>
                <a:lnTo>
                  <a:pt x="3106496" y="313713"/>
                </a:lnTo>
                <a:lnTo>
                  <a:pt x="1419017" y="313713"/>
                </a:lnTo>
                <a:lnTo>
                  <a:pt x="1345638" y="373220"/>
                </a:lnTo>
                <a:lnTo>
                  <a:pt x="534536" y="373220"/>
                </a:lnTo>
                <a:lnTo>
                  <a:pt x="517750" y="349998"/>
                </a:lnTo>
                <a:lnTo>
                  <a:pt x="0" y="349998"/>
                </a:lnTo>
                <a:lnTo>
                  <a:pt x="0" y="127197"/>
                </a:lnTo>
                <a:lnTo>
                  <a:pt x="0" y="94549"/>
                </a:lnTo>
                <a:close/>
              </a:path>
            </a:pathLst>
          </a:custGeom>
          <a:gradFill>
            <a:gsLst>
              <a:gs pos="23000">
                <a:srgbClr val="022746">
                  <a:lumMod val="46000"/>
                  <a:alpha val="34000"/>
                </a:srgbClr>
              </a:gs>
              <a:gs pos="62000">
                <a:srgbClr val="082F4F">
                  <a:alpha val="45000"/>
                </a:srgbClr>
              </a:gs>
              <a:gs pos="91000">
                <a:srgbClr val="082F4F">
                  <a:lumMod val="75000"/>
                  <a:lumOff val="25000"/>
                  <a:alpha val="55000"/>
                </a:srgbClr>
              </a:gs>
            </a:gsLst>
            <a:lin ang="0" scaled="0"/>
          </a:gradFill>
          <a:ln>
            <a:gradFill>
              <a:gsLst>
                <a:gs pos="0">
                  <a:schemeClr val="accent1">
                    <a:lumMod val="5000"/>
                    <a:lumOff val="95000"/>
                    <a:alpha val="37000"/>
                  </a:schemeClr>
                </a:gs>
                <a:gs pos="100000">
                  <a:schemeClr val="accent1">
                    <a:lumMod val="30000"/>
                    <a:lumOff val="70000"/>
                    <a:alpha val="600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p>
        </p:txBody>
      </p:sp>
      <p:sp>
        <p:nvSpPr>
          <p:cNvPr id="61" name="TextBox 60">
            <a:extLst>
              <a:ext uri="{FF2B5EF4-FFF2-40B4-BE49-F238E27FC236}">
                <a16:creationId xmlns:a16="http://schemas.microsoft.com/office/drawing/2014/main" id="{05750BDF-9C1C-4A82-971B-8977A4193CD8}"/>
              </a:ext>
            </a:extLst>
          </p:cNvPr>
          <p:cNvSpPr txBox="1"/>
          <p:nvPr/>
        </p:nvSpPr>
        <p:spPr>
          <a:xfrm>
            <a:off x="4699762" y="555082"/>
            <a:ext cx="2623831" cy="307777"/>
          </a:xfrm>
          <a:prstGeom prst="rect">
            <a:avLst/>
          </a:prstGeom>
          <a:noFill/>
        </p:spPr>
        <p:txBody>
          <a:bodyPr wrap="none" rtlCol="0">
            <a:spAutoFit/>
          </a:bodyPr>
          <a:lstStyle/>
          <a:p>
            <a:pPr algn="l"/>
            <a:r>
              <a:rPr lang="en-US" sz="1400" dirty="0">
                <a:solidFill>
                  <a:srgbClr val="FDF9FF"/>
                </a:solidFill>
              </a:rPr>
              <a:t>2.0 Statement of the Problem</a:t>
            </a:r>
          </a:p>
        </p:txBody>
      </p:sp>
      <p:sp>
        <p:nvSpPr>
          <p:cNvPr id="66" name="Freeform: Shape 65">
            <a:extLst>
              <a:ext uri="{FF2B5EF4-FFF2-40B4-BE49-F238E27FC236}">
                <a16:creationId xmlns:a16="http://schemas.microsoft.com/office/drawing/2014/main" id="{9A8F0C06-88D9-45DB-B6E6-A2B3FCB1A860}"/>
              </a:ext>
            </a:extLst>
          </p:cNvPr>
          <p:cNvSpPr/>
          <p:nvPr/>
        </p:nvSpPr>
        <p:spPr>
          <a:xfrm>
            <a:off x="4300313" y="974100"/>
            <a:ext cx="3521544" cy="2959959"/>
          </a:xfrm>
          <a:custGeom>
            <a:avLst/>
            <a:gdLst>
              <a:gd name="connsiteX0" fmla="*/ 480773 w 3144906"/>
              <a:gd name="connsiteY0" fmla="*/ 0 h 2959959"/>
              <a:gd name="connsiteX1" fmla="*/ 3144906 w 3144906"/>
              <a:gd name="connsiteY1" fmla="*/ 0 h 2959959"/>
              <a:gd name="connsiteX2" fmla="*/ 3144906 w 3144906"/>
              <a:gd name="connsiteY2" fmla="*/ 2846232 h 2959959"/>
              <a:gd name="connsiteX3" fmla="*/ 1686174 w 3144906"/>
              <a:gd name="connsiteY3" fmla="*/ 2846232 h 2959959"/>
              <a:gd name="connsiteX4" fmla="*/ 1592272 w 3144906"/>
              <a:gd name="connsiteY4" fmla="*/ 2959959 h 2959959"/>
              <a:gd name="connsiteX5" fmla="*/ 579630 w 3144906"/>
              <a:gd name="connsiteY5" fmla="*/ 2959959 h 2959959"/>
              <a:gd name="connsiteX6" fmla="*/ 308979 w 3144906"/>
              <a:gd name="connsiteY6" fmla="*/ 2959959 h 2959959"/>
              <a:gd name="connsiteX7" fmla="*/ 0 w 3144906"/>
              <a:gd name="connsiteY7" fmla="*/ 2959959 h 2959959"/>
              <a:gd name="connsiteX8" fmla="*/ 0 w 3144906"/>
              <a:gd name="connsiteY8" fmla="*/ 75238 h 2959959"/>
              <a:gd name="connsiteX9" fmla="*/ 368880 w 3144906"/>
              <a:gd name="connsiteY9" fmla="*/ 75238 h 295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44906" h="2959959">
                <a:moveTo>
                  <a:pt x="480773" y="0"/>
                </a:moveTo>
                <a:lnTo>
                  <a:pt x="3144906" y="0"/>
                </a:lnTo>
                <a:lnTo>
                  <a:pt x="3144906" y="2846232"/>
                </a:lnTo>
                <a:lnTo>
                  <a:pt x="1686174" y="2846232"/>
                </a:lnTo>
                <a:lnTo>
                  <a:pt x="1592272" y="2959959"/>
                </a:lnTo>
                <a:lnTo>
                  <a:pt x="579630" y="2959959"/>
                </a:lnTo>
                <a:lnTo>
                  <a:pt x="308979" y="2959959"/>
                </a:lnTo>
                <a:lnTo>
                  <a:pt x="0" y="2959959"/>
                </a:lnTo>
                <a:lnTo>
                  <a:pt x="0" y="75238"/>
                </a:lnTo>
                <a:lnTo>
                  <a:pt x="368880" y="75238"/>
                </a:lnTo>
                <a:close/>
              </a:path>
            </a:pathLst>
          </a:custGeom>
          <a:gradFill>
            <a:gsLst>
              <a:gs pos="1000">
                <a:srgbClr val="022746">
                  <a:lumMod val="46000"/>
                  <a:alpha val="46000"/>
                </a:srgbClr>
              </a:gs>
              <a:gs pos="47000">
                <a:srgbClr val="082F4F">
                  <a:lumMod val="100000"/>
                  <a:alpha val="70000"/>
                </a:srgbClr>
              </a:gs>
              <a:gs pos="94000">
                <a:schemeClr val="accent1">
                  <a:lumMod val="89000"/>
                  <a:lumOff val="11000"/>
                  <a:alpha val="69000"/>
                </a:schemeClr>
              </a:gs>
            </a:gsLst>
            <a:lin ang="0" scaled="0"/>
          </a:gradFill>
          <a:ln>
            <a:gradFill>
              <a:gsLst>
                <a:gs pos="0">
                  <a:schemeClr val="accent1">
                    <a:lumMod val="5000"/>
                    <a:lumOff val="95000"/>
                    <a:alpha val="41000"/>
                  </a:schemeClr>
                </a:gs>
                <a:gs pos="100000">
                  <a:schemeClr val="accent1">
                    <a:lumMod val="30000"/>
                    <a:lumOff val="70000"/>
                    <a:alpha val="500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p>
        </p:txBody>
      </p:sp>
      <p:sp>
        <p:nvSpPr>
          <p:cNvPr id="64" name="TextBox 63">
            <a:extLst>
              <a:ext uri="{FF2B5EF4-FFF2-40B4-BE49-F238E27FC236}">
                <a16:creationId xmlns:a16="http://schemas.microsoft.com/office/drawing/2014/main" id="{55339298-BD8E-44FE-B524-611181B63CB8}"/>
              </a:ext>
            </a:extLst>
          </p:cNvPr>
          <p:cNvSpPr txBox="1"/>
          <p:nvPr/>
        </p:nvSpPr>
        <p:spPr>
          <a:xfrm>
            <a:off x="4355633" y="1097393"/>
            <a:ext cx="3521542" cy="3000821"/>
          </a:xfrm>
          <a:prstGeom prst="rect">
            <a:avLst/>
          </a:prstGeom>
          <a:noFill/>
          <a:ln>
            <a:noFill/>
          </a:ln>
        </p:spPr>
        <p:txBody>
          <a:bodyPr wrap="square" rtlCol="0">
            <a:spAutoFit/>
          </a:bodyPr>
          <a:lstStyle/>
          <a:p>
            <a:pPr algn="l"/>
            <a:r>
              <a:rPr lang="en-US" sz="1050" dirty="0">
                <a:solidFill>
                  <a:schemeClr val="bg1"/>
                </a:solidFill>
              </a:rPr>
              <a:t>Encounter Expired Epoxy</a:t>
            </a:r>
          </a:p>
          <a:p>
            <a:pPr algn="l"/>
            <a:endParaRPr lang="en-US" sz="1050" dirty="0">
              <a:solidFill>
                <a:schemeClr val="bg1"/>
              </a:solidFill>
            </a:endParaRPr>
          </a:p>
          <a:p>
            <a:pPr algn="l"/>
            <a:endParaRPr lang="en-US" sz="1050" dirty="0">
              <a:solidFill>
                <a:schemeClr val="bg1"/>
              </a:solidFill>
            </a:endParaRPr>
          </a:p>
          <a:p>
            <a:pPr algn="l"/>
            <a:r>
              <a:rPr lang="en-US" sz="1050" dirty="0">
                <a:solidFill>
                  <a:schemeClr val="bg1"/>
                </a:solidFill>
              </a:rPr>
              <a:t>Expired epoxy was used in production due to inadequate verification of the material's expiration date prior to use.</a:t>
            </a:r>
          </a:p>
          <a:p>
            <a:pPr algn="l"/>
            <a:endParaRPr lang="en-US" sz="1050" dirty="0">
              <a:solidFill>
                <a:schemeClr val="bg1"/>
              </a:solidFill>
            </a:endParaRPr>
          </a:p>
          <a:p>
            <a:pPr algn="l"/>
            <a:r>
              <a:rPr lang="en-US" sz="1050" dirty="0">
                <a:solidFill>
                  <a:schemeClr val="bg1"/>
                </a:solidFill>
              </a:rPr>
              <a:t>The current process relies solely on the production operator for epoxy expiration verification, with no secondary control or independent verification in place.</a:t>
            </a:r>
          </a:p>
          <a:p>
            <a:pPr algn="l"/>
            <a:endParaRPr lang="en-US" sz="1050" dirty="0">
              <a:solidFill>
                <a:schemeClr val="bg1"/>
              </a:solidFill>
            </a:endParaRPr>
          </a:p>
          <a:p>
            <a:pPr algn="l"/>
            <a:r>
              <a:rPr lang="en-US" sz="1050" dirty="0">
                <a:solidFill>
                  <a:schemeClr val="bg1"/>
                </a:solidFill>
              </a:rPr>
              <a:t>Reliance on a single verification point increases the likelihood of expired epoxy usage, which may adversely affect product quality and process performance.</a:t>
            </a:r>
          </a:p>
          <a:p>
            <a:pPr algn="l"/>
            <a:endParaRPr lang="en-US" sz="1050" dirty="0">
              <a:solidFill>
                <a:schemeClr val="bg1"/>
              </a:solidFill>
            </a:endParaRPr>
          </a:p>
          <a:p>
            <a:pPr algn="l"/>
            <a:endParaRPr lang="en-US" sz="1050" dirty="0">
              <a:solidFill>
                <a:schemeClr val="bg1"/>
              </a:solidFill>
            </a:endParaRPr>
          </a:p>
        </p:txBody>
      </p:sp>
      <p:grpSp>
        <p:nvGrpSpPr>
          <p:cNvPr id="45" name="Group 44">
            <a:extLst>
              <a:ext uri="{FF2B5EF4-FFF2-40B4-BE49-F238E27FC236}">
                <a16:creationId xmlns:a16="http://schemas.microsoft.com/office/drawing/2014/main" id="{32A9086D-6D3F-4B60-9E17-578D343C89BE}"/>
              </a:ext>
            </a:extLst>
          </p:cNvPr>
          <p:cNvGrpSpPr/>
          <p:nvPr/>
        </p:nvGrpSpPr>
        <p:grpSpPr>
          <a:xfrm>
            <a:off x="360365" y="504300"/>
            <a:ext cx="3545770" cy="3442459"/>
            <a:chOff x="360365" y="504300"/>
            <a:chExt cx="3126756" cy="3442459"/>
          </a:xfrm>
        </p:grpSpPr>
        <p:sp>
          <p:nvSpPr>
            <p:cNvPr id="31" name="Freeform: Shape 30">
              <a:extLst>
                <a:ext uri="{FF2B5EF4-FFF2-40B4-BE49-F238E27FC236}">
                  <a16:creationId xmlns:a16="http://schemas.microsoft.com/office/drawing/2014/main" id="{795DE021-6982-42E4-AA4F-FB1C864CEC7B}"/>
                </a:ext>
              </a:extLst>
            </p:cNvPr>
            <p:cNvSpPr/>
            <p:nvPr/>
          </p:nvSpPr>
          <p:spPr>
            <a:xfrm>
              <a:off x="360366" y="504300"/>
              <a:ext cx="3083560" cy="347886"/>
            </a:xfrm>
            <a:custGeom>
              <a:avLst/>
              <a:gdLst>
                <a:gd name="connsiteX0" fmla="*/ 1608152 w 3083560"/>
                <a:gd name="connsiteY0" fmla="*/ 0 h 400164"/>
                <a:gd name="connsiteX1" fmla="*/ 2419212 w 3083560"/>
                <a:gd name="connsiteY1" fmla="*/ 0 h 400164"/>
                <a:gd name="connsiteX2" fmla="*/ 2489503 w 3083560"/>
                <a:gd name="connsiteY2" fmla="*/ 82074 h 400164"/>
                <a:gd name="connsiteX3" fmla="*/ 2554388 w 3083560"/>
                <a:gd name="connsiteY3" fmla="*/ 88387 h 400164"/>
                <a:gd name="connsiteX4" fmla="*/ 3083560 w 3083560"/>
                <a:gd name="connsiteY4" fmla="*/ 88387 h 400164"/>
                <a:gd name="connsiteX5" fmla="*/ 3083560 w 3083560"/>
                <a:gd name="connsiteY5" fmla="*/ 393829 h 400164"/>
                <a:gd name="connsiteX6" fmla="*/ 2815895 w 3083560"/>
                <a:gd name="connsiteY6" fmla="*/ 393829 h 400164"/>
                <a:gd name="connsiteX7" fmla="*/ 2804582 w 3083560"/>
                <a:gd name="connsiteY7" fmla="*/ 396113 h 400164"/>
                <a:gd name="connsiteX8" fmla="*/ 2801774 w 3083560"/>
                <a:gd name="connsiteY8" fmla="*/ 398006 h 400164"/>
                <a:gd name="connsiteX9" fmla="*/ 2737327 w 3083560"/>
                <a:gd name="connsiteY9" fmla="*/ 398006 h 400164"/>
                <a:gd name="connsiteX10" fmla="*/ 1250384 w 3083560"/>
                <a:gd name="connsiteY10" fmla="*/ 398006 h 400164"/>
                <a:gd name="connsiteX11" fmla="*/ 1248536 w 3083560"/>
                <a:gd name="connsiteY11" fmla="*/ 400164 h 400164"/>
                <a:gd name="connsiteX12" fmla="*/ 0 w 3083560"/>
                <a:gd name="connsiteY12" fmla="*/ 400164 h 400164"/>
                <a:gd name="connsiteX13" fmla="*/ 0 w 3083560"/>
                <a:gd name="connsiteY13" fmla="*/ 119954 h 400164"/>
                <a:gd name="connsiteX14" fmla="*/ 1505418 w 3083560"/>
                <a:gd name="connsiteY14" fmla="*/ 119954 h 40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83560" h="400164">
                  <a:moveTo>
                    <a:pt x="1608152" y="0"/>
                  </a:moveTo>
                  <a:lnTo>
                    <a:pt x="2419212" y="0"/>
                  </a:lnTo>
                  <a:lnTo>
                    <a:pt x="2489503" y="82074"/>
                  </a:lnTo>
                  <a:lnTo>
                    <a:pt x="2554388" y="88387"/>
                  </a:lnTo>
                  <a:lnTo>
                    <a:pt x="3083560" y="88387"/>
                  </a:lnTo>
                  <a:lnTo>
                    <a:pt x="3083560" y="393829"/>
                  </a:lnTo>
                  <a:lnTo>
                    <a:pt x="2815895" y="393829"/>
                  </a:lnTo>
                  <a:cubicBezTo>
                    <a:pt x="2811882" y="393829"/>
                    <a:pt x="2808059" y="394643"/>
                    <a:pt x="2804582" y="396113"/>
                  </a:cubicBezTo>
                  <a:lnTo>
                    <a:pt x="2801774" y="398006"/>
                  </a:lnTo>
                  <a:lnTo>
                    <a:pt x="2737327" y="398006"/>
                  </a:lnTo>
                  <a:lnTo>
                    <a:pt x="1250384" y="398006"/>
                  </a:lnTo>
                  <a:lnTo>
                    <a:pt x="1248536" y="400164"/>
                  </a:lnTo>
                  <a:lnTo>
                    <a:pt x="0" y="400164"/>
                  </a:lnTo>
                  <a:lnTo>
                    <a:pt x="0" y="119954"/>
                  </a:lnTo>
                  <a:lnTo>
                    <a:pt x="1505418" y="119954"/>
                  </a:lnTo>
                  <a:close/>
                </a:path>
              </a:pathLst>
            </a:custGeom>
            <a:gradFill>
              <a:gsLst>
                <a:gs pos="7000">
                  <a:srgbClr val="022746">
                    <a:lumMod val="46000"/>
                    <a:alpha val="18000"/>
                  </a:srgbClr>
                </a:gs>
                <a:gs pos="62000">
                  <a:srgbClr val="082F4F"/>
                </a:gs>
                <a:gs pos="91000">
                  <a:srgbClr val="082F4F">
                    <a:lumMod val="75000"/>
                    <a:lumOff val="25000"/>
                    <a:alpha val="55000"/>
                  </a:srgbClr>
                </a:gs>
              </a:gsLst>
              <a:lin ang="0" scaled="0"/>
            </a:gradFill>
            <a:ln w="12700">
              <a:gradFill>
                <a:gsLst>
                  <a:gs pos="0">
                    <a:schemeClr val="accent1">
                      <a:lumMod val="5000"/>
                      <a:lumOff val="95000"/>
                      <a:alpha val="46000"/>
                    </a:schemeClr>
                  </a:gs>
                  <a:gs pos="94000">
                    <a:schemeClr val="accent1">
                      <a:lumMod val="30000"/>
                      <a:lumOff val="70000"/>
                      <a:alpha val="0"/>
                    </a:schemeClr>
                  </a:gs>
                </a:gsLst>
                <a:lin ang="0" scaled="0"/>
              </a:gradFill>
              <a:extLst>
                <a:ext uri="{C807C97D-BFC1-408E-A445-0C87EB9F89A2}">
                  <ask:lineSketchStyleProps xmlns:ask="http://schemas.microsoft.com/office/drawing/2018/sketchyshapes" sd="2259625908">
                    <a:custGeom>
                      <a:avLst/>
                      <a:gdLst>
                        <a:gd name="connsiteX0" fmla="*/ 1608152 w 3083560"/>
                        <a:gd name="connsiteY0" fmla="*/ 0 h 307778"/>
                        <a:gd name="connsiteX1" fmla="*/ 1997461 w 3083560"/>
                        <a:gd name="connsiteY1" fmla="*/ 0 h 307778"/>
                        <a:gd name="connsiteX2" fmla="*/ 2419212 w 3083560"/>
                        <a:gd name="connsiteY2" fmla="*/ 0 h 307778"/>
                        <a:gd name="connsiteX3" fmla="*/ 2489503 w 3083560"/>
                        <a:gd name="connsiteY3" fmla="*/ 63125 h 307778"/>
                        <a:gd name="connsiteX4" fmla="*/ 2554388 w 3083560"/>
                        <a:gd name="connsiteY4" fmla="*/ 67981 h 307778"/>
                        <a:gd name="connsiteX5" fmla="*/ 3083560 w 3083560"/>
                        <a:gd name="connsiteY5" fmla="*/ 67981 h 307778"/>
                        <a:gd name="connsiteX6" fmla="*/ 3083560 w 3083560"/>
                        <a:gd name="connsiteY6" fmla="*/ 302905 h 307778"/>
                        <a:gd name="connsiteX7" fmla="*/ 2815895 w 3083560"/>
                        <a:gd name="connsiteY7" fmla="*/ 302905 h 307778"/>
                        <a:gd name="connsiteX8" fmla="*/ 2804582 w 3083560"/>
                        <a:gd name="connsiteY8" fmla="*/ 304662 h 307778"/>
                        <a:gd name="connsiteX9" fmla="*/ 2801774 w 3083560"/>
                        <a:gd name="connsiteY9" fmla="*/ 306118 h 307778"/>
                        <a:gd name="connsiteX10" fmla="*/ 2737327 w 3083560"/>
                        <a:gd name="connsiteY10" fmla="*/ 306118 h 307778"/>
                        <a:gd name="connsiteX11" fmla="*/ 2256549 w 3083560"/>
                        <a:gd name="connsiteY11" fmla="*/ 306118 h 307778"/>
                        <a:gd name="connsiteX12" fmla="*/ 1731162 w 3083560"/>
                        <a:gd name="connsiteY12" fmla="*/ 306118 h 307778"/>
                        <a:gd name="connsiteX13" fmla="*/ 1250384 w 3083560"/>
                        <a:gd name="connsiteY13" fmla="*/ 306118 h 307778"/>
                        <a:gd name="connsiteX14" fmla="*/ 1248536 w 3083560"/>
                        <a:gd name="connsiteY14" fmla="*/ 307778 h 307778"/>
                        <a:gd name="connsiteX15" fmla="*/ 832357 w 3083560"/>
                        <a:gd name="connsiteY15" fmla="*/ 307778 h 307778"/>
                        <a:gd name="connsiteX16" fmla="*/ 441149 w 3083560"/>
                        <a:gd name="connsiteY16" fmla="*/ 307778 h 307778"/>
                        <a:gd name="connsiteX17" fmla="*/ 0 w 3083560"/>
                        <a:gd name="connsiteY17" fmla="*/ 307778 h 307778"/>
                        <a:gd name="connsiteX18" fmla="*/ 0 w 3083560"/>
                        <a:gd name="connsiteY18" fmla="*/ 92260 h 307778"/>
                        <a:gd name="connsiteX19" fmla="*/ 471698 w 3083560"/>
                        <a:gd name="connsiteY19" fmla="*/ 92260 h 307778"/>
                        <a:gd name="connsiteX20" fmla="*/ 1003612 w 3083560"/>
                        <a:gd name="connsiteY20" fmla="*/ 92260 h 307778"/>
                        <a:gd name="connsiteX21" fmla="*/ 1505418 w 3083560"/>
                        <a:gd name="connsiteY21" fmla="*/ 92260 h 307778"/>
                        <a:gd name="connsiteX22" fmla="*/ 1608152 w 3083560"/>
                        <a:gd name="connsiteY22" fmla="*/ 0 h 30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83560" h="307778" fill="none" extrusionOk="0">
                          <a:moveTo>
                            <a:pt x="1608152" y="0"/>
                          </a:moveTo>
                          <a:cubicBezTo>
                            <a:pt x="1700234" y="-24032"/>
                            <a:pt x="1833235" y="19426"/>
                            <a:pt x="1997461" y="0"/>
                          </a:cubicBezTo>
                          <a:cubicBezTo>
                            <a:pt x="2161687" y="-19426"/>
                            <a:pt x="2324163" y="4712"/>
                            <a:pt x="2419212" y="0"/>
                          </a:cubicBezTo>
                          <a:cubicBezTo>
                            <a:pt x="2455177" y="17943"/>
                            <a:pt x="2456432" y="40067"/>
                            <a:pt x="2489503" y="63125"/>
                          </a:cubicBezTo>
                          <a:cubicBezTo>
                            <a:pt x="2517475" y="61335"/>
                            <a:pt x="2534032" y="74264"/>
                            <a:pt x="2554388" y="67981"/>
                          </a:cubicBezTo>
                          <a:cubicBezTo>
                            <a:pt x="2710534" y="33548"/>
                            <a:pt x="2917871" y="128357"/>
                            <a:pt x="3083560" y="67981"/>
                          </a:cubicBezTo>
                          <a:cubicBezTo>
                            <a:pt x="3107904" y="117028"/>
                            <a:pt x="3082703" y="243835"/>
                            <a:pt x="3083560" y="302905"/>
                          </a:cubicBezTo>
                          <a:cubicBezTo>
                            <a:pt x="2995154" y="303627"/>
                            <a:pt x="2913542" y="302534"/>
                            <a:pt x="2815895" y="302905"/>
                          </a:cubicBezTo>
                          <a:cubicBezTo>
                            <a:pt x="2812628" y="302656"/>
                            <a:pt x="2807861" y="303093"/>
                            <a:pt x="2804582" y="304662"/>
                          </a:cubicBezTo>
                          <a:cubicBezTo>
                            <a:pt x="2803496" y="305478"/>
                            <a:pt x="2802500" y="305454"/>
                            <a:pt x="2801774" y="306118"/>
                          </a:cubicBezTo>
                          <a:cubicBezTo>
                            <a:pt x="2782064" y="309155"/>
                            <a:pt x="2754724" y="305135"/>
                            <a:pt x="2737327" y="306118"/>
                          </a:cubicBezTo>
                          <a:cubicBezTo>
                            <a:pt x="2529585" y="320833"/>
                            <a:pt x="2353379" y="288565"/>
                            <a:pt x="2256549" y="306118"/>
                          </a:cubicBezTo>
                          <a:cubicBezTo>
                            <a:pt x="2159719" y="323671"/>
                            <a:pt x="1958844" y="273670"/>
                            <a:pt x="1731162" y="306118"/>
                          </a:cubicBezTo>
                          <a:cubicBezTo>
                            <a:pt x="1503480" y="338566"/>
                            <a:pt x="1471343" y="275646"/>
                            <a:pt x="1250384" y="306118"/>
                          </a:cubicBezTo>
                          <a:cubicBezTo>
                            <a:pt x="1250197" y="306655"/>
                            <a:pt x="1249137" y="307112"/>
                            <a:pt x="1248536" y="307778"/>
                          </a:cubicBezTo>
                          <a:cubicBezTo>
                            <a:pt x="1049809" y="310279"/>
                            <a:pt x="1006345" y="289524"/>
                            <a:pt x="832357" y="307778"/>
                          </a:cubicBezTo>
                          <a:cubicBezTo>
                            <a:pt x="658369" y="326032"/>
                            <a:pt x="538167" y="275332"/>
                            <a:pt x="441149" y="307778"/>
                          </a:cubicBezTo>
                          <a:cubicBezTo>
                            <a:pt x="344131" y="340224"/>
                            <a:pt x="131328" y="266463"/>
                            <a:pt x="0" y="307778"/>
                          </a:cubicBezTo>
                          <a:cubicBezTo>
                            <a:pt x="-14473" y="208617"/>
                            <a:pt x="10597" y="156694"/>
                            <a:pt x="0" y="92260"/>
                          </a:cubicBezTo>
                          <a:cubicBezTo>
                            <a:pt x="194280" y="70163"/>
                            <a:pt x="344266" y="124545"/>
                            <a:pt x="471698" y="92260"/>
                          </a:cubicBezTo>
                          <a:cubicBezTo>
                            <a:pt x="599130" y="59975"/>
                            <a:pt x="819445" y="139680"/>
                            <a:pt x="1003612" y="92260"/>
                          </a:cubicBezTo>
                          <a:cubicBezTo>
                            <a:pt x="1187779" y="44840"/>
                            <a:pt x="1361092" y="112783"/>
                            <a:pt x="1505418" y="92260"/>
                          </a:cubicBezTo>
                          <a:cubicBezTo>
                            <a:pt x="1528893" y="58233"/>
                            <a:pt x="1574217" y="36370"/>
                            <a:pt x="1608152" y="0"/>
                          </a:cubicBezTo>
                          <a:close/>
                        </a:path>
                        <a:path w="3083560" h="307778" stroke="0" extrusionOk="0">
                          <a:moveTo>
                            <a:pt x="1608152" y="0"/>
                          </a:moveTo>
                          <a:cubicBezTo>
                            <a:pt x="1749279" y="-43936"/>
                            <a:pt x="1868344" y="5160"/>
                            <a:pt x="1989350" y="0"/>
                          </a:cubicBezTo>
                          <a:cubicBezTo>
                            <a:pt x="2110356" y="-5160"/>
                            <a:pt x="2256000" y="23867"/>
                            <a:pt x="2419212" y="0"/>
                          </a:cubicBezTo>
                          <a:cubicBezTo>
                            <a:pt x="2452036" y="19558"/>
                            <a:pt x="2467800" y="48436"/>
                            <a:pt x="2489503" y="63125"/>
                          </a:cubicBezTo>
                          <a:cubicBezTo>
                            <a:pt x="2521895" y="60862"/>
                            <a:pt x="2535485" y="68584"/>
                            <a:pt x="2554388" y="67981"/>
                          </a:cubicBezTo>
                          <a:cubicBezTo>
                            <a:pt x="2770942" y="25522"/>
                            <a:pt x="2900553" y="94720"/>
                            <a:pt x="3083560" y="67981"/>
                          </a:cubicBezTo>
                          <a:cubicBezTo>
                            <a:pt x="3107019" y="156337"/>
                            <a:pt x="3067230" y="254762"/>
                            <a:pt x="3083560" y="302905"/>
                          </a:cubicBezTo>
                          <a:cubicBezTo>
                            <a:pt x="2977191" y="316422"/>
                            <a:pt x="2894544" y="280495"/>
                            <a:pt x="2815895" y="302905"/>
                          </a:cubicBezTo>
                          <a:cubicBezTo>
                            <a:pt x="2812343" y="302776"/>
                            <a:pt x="2807958" y="303709"/>
                            <a:pt x="2804582" y="304662"/>
                          </a:cubicBezTo>
                          <a:cubicBezTo>
                            <a:pt x="2803858" y="305412"/>
                            <a:pt x="2803064" y="305232"/>
                            <a:pt x="2801774" y="306118"/>
                          </a:cubicBezTo>
                          <a:cubicBezTo>
                            <a:pt x="2784320" y="309282"/>
                            <a:pt x="2766119" y="303292"/>
                            <a:pt x="2737327" y="306118"/>
                          </a:cubicBezTo>
                          <a:cubicBezTo>
                            <a:pt x="2500852" y="334273"/>
                            <a:pt x="2345596" y="252836"/>
                            <a:pt x="2241679" y="306118"/>
                          </a:cubicBezTo>
                          <a:cubicBezTo>
                            <a:pt x="2137762" y="359400"/>
                            <a:pt x="1925101" y="277884"/>
                            <a:pt x="1760901" y="306118"/>
                          </a:cubicBezTo>
                          <a:cubicBezTo>
                            <a:pt x="1596701" y="334352"/>
                            <a:pt x="1425110" y="283975"/>
                            <a:pt x="1250384" y="306118"/>
                          </a:cubicBezTo>
                          <a:cubicBezTo>
                            <a:pt x="1249521" y="306991"/>
                            <a:pt x="1249243" y="307122"/>
                            <a:pt x="1248536" y="307778"/>
                          </a:cubicBezTo>
                          <a:cubicBezTo>
                            <a:pt x="1142522" y="310238"/>
                            <a:pt x="1006896" y="299667"/>
                            <a:pt x="844843" y="307778"/>
                          </a:cubicBezTo>
                          <a:cubicBezTo>
                            <a:pt x="682790" y="315889"/>
                            <a:pt x="594539" y="297390"/>
                            <a:pt x="441149" y="307778"/>
                          </a:cubicBezTo>
                          <a:cubicBezTo>
                            <a:pt x="287759" y="318166"/>
                            <a:pt x="117286" y="275125"/>
                            <a:pt x="0" y="307778"/>
                          </a:cubicBezTo>
                          <a:cubicBezTo>
                            <a:pt x="-12895" y="251680"/>
                            <a:pt x="25340" y="147066"/>
                            <a:pt x="0" y="92260"/>
                          </a:cubicBezTo>
                          <a:cubicBezTo>
                            <a:pt x="156895" y="83002"/>
                            <a:pt x="329403" y="106620"/>
                            <a:pt x="486752" y="92260"/>
                          </a:cubicBezTo>
                          <a:cubicBezTo>
                            <a:pt x="644101" y="77900"/>
                            <a:pt x="846568" y="102004"/>
                            <a:pt x="973504" y="92260"/>
                          </a:cubicBezTo>
                          <a:cubicBezTo>
                            <a:pt x="1100440" y="82516"/>
                            <a:pt x="1392729" y="119627"/>
                            <a:pt x="1505418" y="92260"/>
                          </a:cubicBezTo>
                          <a:cubicBezTo>
                            <a:pt x="1517631" y="60550"/>
                            <a:pt x="1572853" y="35072"/>
                            <a:pt x="1608152" y="0"/>
                          </a:cubicBezTo>
                          <a:close/>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23" name="TextBox 22">
              <a:extLst>
                <a:ext uri="{FF2B5EF4-FFF2-40B4-BE49-F238E27FC236}">
                  <a16:creationId xmlns:a16="http://schemas.microsoft.com/office/drawing/2014/main" id="{A4B45BD5-D4DB-4C07-B93C-2B7743FA60C4}"/>
                </a:ext>
              </a:extLst>
            </p:cNvPr>
            <p:cNvSpPr txBox="1"/>
            <p:nvPr/>
          </p:nvSpPr>
          <p:spPr>
            <a:xfrm>
              <a:off x="696266" y="572433"/>
              <a:ext cx="2246449" cy="307777"/>
            </a:xfrm>
            <a:prstGeom prst="rect">
              <a:avLst/>
            </a:prstGeom>
            <a:noFill/>
          </p:spPr>
          <p:txBody>
            <a:bodyPr wrap="none" rtlCol="0">
              <a:spAutoFit/>
            </a:bodyPr>
            <a:lstStyle/>
            <a:p>
              <a:pPr algn="l"/>
              <a:r>
                <a:rPr lang="en-US" sz="1400" dirty="0">
                  <a:solidFill>
                    <a:srgbClr val="FDF9FF"/>
                  </a:solidFill>
                </a:rPr>
                <a:t>I.0 Background of the Study:</a:t>
              </a:r>
            </a:p>
          </p:txBody>
        </p:sp>
        <p:sp>
          <p:nvSpPr>
            <p:cNvPr id="28" name="Freeform: Shape 27">
              <a:extLst>
                <a:ext uri="{FF2B5EF4-FFF2-40B4-BE49-F238E27FC236}">
                  <a16:creationId xmlns:a16="http://schemas.microsoft.com/office/drawing/2014/main" id="{564630FC-B698-43E7-98B5-1A1CC0C58B40}"/>
                </a:ext>
              </a:extLst>
            </p:cNvPr>
            <p:cNvSpPr/>
            <p:nvPr/>
          </p:nvSpPr>
          <p:spPr>
            <a:xfrm>
              <a:off x="360365" y="975945"/>
              <a:ext cx="3083560" cy="2970814"/>
            </a:xfrm>
            <a:custGeom>
              <a:avLst/>
              <a:gdLst>
                <a:gd name="connsiteX0" fmla="*/ 0 w 5954777"/>
                <a:gd name="connsiteY0" fmla="*/ 0 h 5359349"/>
                <a:gd name="connsiteX1" fmla="*/ 4463098 w 5954777"/>
                <a:gd name="connsiteY1" fmla="*/ 0 h 5359349"/>
                <a:gd name="connsiteX2" fmla="*/ 4594861 w 5954777"/>
                <a:gd name="connsiteY2" fmla="*/ 131763 h 5359349"/>
                <a:gd name="connsiteX3" fmla="*/ 5954777 w 5954777"/>
                <a:gd name="connsiteY3" fmla="*/ 131763 h 5359349"/>
                <a:gd name="connsiteX4" fmla="*/ 5954777 w 5954777"/>
                <a:gd name="connsiteY4" fmla="*/ 4918647 h 5359349"/>
                <a:gd name="connsiteX5" fmla="*/ 5514075 w 5954777"/>
                <a:gd name="connsiteY5" fmla="*/ 5359349 h 5359349"/>
                <a:gd name="connsiteX6" fmla="*/ 1097511 w 5954777"/>
                <a:gd name="connsiteY6" fmla="*/ 5359349 h 5359349"/>
                <a:gd name="connsiteX7" fmla="*/ 585042 w 5954777"/>
                <a:gd name="connsiteY7" fmla="*/ 5359349 h 5359349"/>
                <a:gd name="connsiteX8" fmla="*/ 0 w 5954777"/>
                <a:gd name="connsiteY8" fmla="*/ 5359349 h 5359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54777" h="5359349">
                  <a:moveTo>
                    <a:pt x="0" y="0"/>
                  </a:moveTo>
                  <a:lnTo>
                    <a:pt x="4463098" y="0"/>
                  </a:lnTo>
                  <a:lnTo>
                    <a:pt x="4594861" y="131763"/>
                  </a:lnTo>
                  <a:lnTo>
                    <a:pt x="5954777" y="131763"/>
                  </a:lnTo>
                  <a:lnTo>
                    <a:pt x="5954777" y="4918647"/>
                  </a:lnTo>
                  <a:lnTo>
                    <a:pt x="5514075" y="5359349"/>
                  </a:lnTo>
                  <a:lnTo>
                    <a:pt x="1097511" y="5359349"/>
                  </a:lnTo>
                  <a:lnTo>
                    <a:pt x="585042" y="5359349"/>
                  </a:lnTo>
                  <a:lnTo>
                    <a:pt x="0" y="5359349"/>
                  </a:lnTo>
                  <a:close/>
                </a:path>
              </a:pathLst>
            </a:custGeom>
            <a:gradFill>
              <a:gsLst>
                <a:gs pos="0">
                  <a:srgbClr val="022746">
                    <a:lumMod val="46000"/>
                    <a:alpha val="25000"/>
                  </a:srgbClr>
                </a:gs>
                <a:gs pos="49000">
                  <a:srgbClr val="082F4F">
                    <a:lumMod val="100000"/>
                    <a:alpha val="49000"/>
                  </a:srgbClr>
                </a:gs>
                <a:gs pos="100000">
                  <a:schemeClr val="accent1">
                    <a:lumMod val="89000"/>
                    <a:lumOff val="11000"/>
                    <a:alpha val="46000"/>
                  </a:schemeClr>
                </a:gs>
              </a:gsLst>
              <a:lin ang="0" scaled="0"/>
            </a:gradFill>
            <a:ln>
              <a:gradFill>
                <a:gsLst>
                  <a:gs pos="0">
                    <a:schemeClr val="accent1">
                      <a:lumMod val="5000"/>
                      <a:lumOff val="95000"/>
                      <a:alpha val="33000"/>
                    </a:schemeClr>
                  </a:gs>
                  <a:gs pos="100000">
                    <a:schemeClr val="accent1">
                      <a:lumMod val="30000"/>
                      <a:lumOff val="70000"/>
                      <a:alpha val="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32" name="TextBox 31">
              <a:extLst>
                <a:ext uri="{FF2B5EF4-FFF2-40B4-BE49-F238E27FC236}">
                  <a16:creationId xmlns:a16="http://schemas.microsoft.com/office/drawing/2014/main" id="{E8527869-BE32-4FE6-B3FD-5E380AD2B0B0}"/>
                </a:ext>
              </a:extLst>
            </p:cNvPr>
            <p:cNvSpPr txBox="1"/>
            <p:nvPr/>
          </p:nvSpPr>
          <p:spPr>
            <a:xfrm>
              <a:off x="388203" y="1044112"/>
              <a:ext cx="3055722" cy="2354491"/>
            </a:xfrm>
            <a:prstGeom prst="rect">
              <a:avLst/>
            </a:prstGeom>
            <a:noFill/>
          </p:spPr>
          <p:txBody>
            <a:bodyPr wrap="square" rtlCol="0">
              <a:spAutoFit/>
            </a:bodyPr>
            <a:lstStyle/>
            <a:p>
              <a:pPr algn="l"/>
              <a:r>
                <a:rPr lang="en-US" sz="1050" dirty="0">
                  <a:solidFill>
                    <a:schemeClr val="bg1"/>
                  </a:solidFill>
                </a:rPr>
                <a:t>Manual epoxy time monitoring is prone to human error and may result in the use of expired epoxy, potentially affecting Magnet Attach quality. An Epoxy Timer provides reliable monitoring to prevent expired epoxy usage and improve process control.</a:t>
              </a: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p:txBody>
        </p:sp>
        <p:pic>
          <p:nvPicPr>
            <p:cNvPr id="3" name="Picture 2">
              <a:extLst>
                <a:ext uri="{FF2B5EF4-FFF2-40B4-BE49-F238E27FC236}">
                  <a16:creationId xmlns:a16="http://schemas.microsoft.com/office/drawing/2014/main" id="{91336FEB-F4DC-4CCC-80B2-ED933D9292C8}"/>
                </a:ext>
              </a:extLst>
            </p:cNvPr>
            <p:cNvPicPr>
              <a:picLocks noChangeAspect="1"/>
            </p:cNvPicPr>
            <p:nvPr/>
          </p:nvPicPr>
          <p:blipFill rotWithShape="1">
            <a:blip r:embed="rId7">
              <a:extLst>
                <a:ext uri="{28A0092B-C50C-407E-A947-70E740481C1C}">
                  <a14:useLocalDpi xmlns:a14="http://schemas.microsoft.com/office/drawing/2010/main" val="0"/>
                </a:ext>
              </a:extLst>
            </a:blip>
            <a:srcRect l="18703" t="35139" r="10185" b="22873"/>
            <a:stretch/>
          </p:blipFill>
          <p:spPr>
            <a:xfrm>
              <a:off x="472727" y="1973249"/>
              <a:ext cx="1382339" cy="1088244"/>
            </a:xfrm>
            <a:prstGeom prst="rect">
              <a:avLst/>
            </a:prstGeom>
          </p:spPr>
        </p:pic>
        <p:sp>
          <p:nvSpPr>
            <p:cNvPr id="4" name="Rectangle 3">
              <a:extLst>
                <a:ext uri="{FF2B5EF4-FFF2-40B4-BE49-F238E27FC236}">
                  <a16:creationId xmlns:a16="http://schemas.microsoft.com/office/drawing/2014/main" id="{AF4DA689-F85B-445C-9450-4CE344DA270D}"/>
                </a:ext>
              </a:extLst>
            </p:cNvPr>
            <p:cNvSpPr/>
            <p:nvPr/>
          </p:nvSpPr>
          <p:spPr>
            <a:xfrm>
              <a:off x="482787" y="3070139"/>
              <a:ext cx="1382339" cy="190500"/>
            </a:xfrm>
            <a:prstGeom prst="rect">
              <a:avLst/>
            </a:prstGeom>
            <a:solidFill>
              <a:srgbClr val="0070C0"/>
            </a:solidFill>
            <a:ln>
              <a:solidFill>
                <a:schemeClr val="bg1">
                  <a:alpha val="2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GOOD EPOXY QUALITY</a:t>
              </a:r>
            </a:p>
          </p:txBody>
        </p:sp>
        <p:pic>
          <p:nvPicPr>
            <p:cNvPr id="19" name="Picture 18">
              <a:extLst>
                <a:ext uri="{FF2B5EF4-FFF2-40B4-BE49-F238E27FC236}">
                  <a16:creationId xmlns:a16="http://schemas.microsoft.com/office/drawing/2014/main" id="{A4D67A94-D10F-4A44-B8C8-BF19A4167D1E}"/>
                </a:ext>
              </a:extLst>
            </p:cNvPr>
            <p:cNvPicPr>
              <a:picLocks noChangeAspect="1"/>
            </p:cNvPicPr>
            <p:nvPr/>
          </p:nvPicPr>
          <p:blipFill>
            <a:blip r:embed="rId8"/>
            <a:stretch>
              <a:fillRect/>
            </a:stretch>
          </p:blipFill>
          <p:spPr>
            <a:xfrm>
              <a:off x="1467389" y="2855262"/>
              <a:ext cx="352102" cy="174893"/>
            </a:xfrm>
            <a:prstGeom prst="rect">
              <a:avLst/>
            </a:prstGeom>
          </p:spPr>
        </p:pic>
        <p:sp>
          <p:nvSpPr>
            <p:cNvPr id="49" name="Rectangle 48">
              <a:extLst>
                <a:ext uri="{FF2B5EF4-FFF2-40B4-BE49-F238E27FC236}">
                  <a16:creationId xmlns:a16="http://schemas.microsoft.com/office/drawing/2014/main" id="{6822FA60-55F5-487D-9822-AD6EFA1951C8}"/>
                </a:ext>
              </a:extLst>
            </p:cNvPr>
            <p:cNvSpPr/>
            <p:nvPr/>
          </p:nvSpPr>
          <p:spPr>
            <a:xfrm>
              <a:off x="1975194" y="3070139"/>
              <a:ext cx="1382339" cy="190500"/>
            </a:xfrm>
            <a:prstGeom prst="rect">
              <a:avLst/>
            </a:prstGeom>
            <a:solidFill>
              <a:srgbClr val="0070C0"/>
            </a:solidFill>
            <a:ln>
              <a:solidFill>
                <a:schemeClr val="bg1">
                  <a:alpha val="2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EXPIRED EPOXY</a:t>
              </a:r>
            </a:p>
          </p:txBody>
        </p:sp>
        <p:pic>
          <p:nvPicPr>
            <p:cNvPr id="18" name="Picture 17">
              <a:extLst>
                <a:ext uri="{FF2B5EF4-FFF2-40B4-BE49-F238E27FC236}">
                  <a16:creationId xmlns:a16="http://schemas.microsoft.com/office/drawing/2014/main" id="{EAB02B42-B3AB-414A-ADB6-A6FF3FFF9AD1}"/>
                </a:ext>
              </a:extLst>
            </p:cNvPr>
            <p:cNvPicPr>
              <a:picLocks noChangeAspect="1"/>
            </p:cNvPicPr>
            <p:nvPr/>
          </p:nvPicPr>
          <p:blipFill rotWithShape="1">
            <a:blip r:embed="rId9">
              <a:extLst>
                <a:ext uri="{BEBA8EAE-BF5A-486C-A8C5-ECC9F3942E4B}">
                  <a14:imgProps xmlns:a14="http://schemas.microsoft.com/office/drawing/2010/main">
                    <a14:imgLayer r:embed="rId10">
                      <a14:imgEffect>
                        <a14:brightnessContrast bright="20000"/>
                      </a14:imgEffect>
                    </a14:imgLayer>
                  </a14:imgProps>
                </a:ext>
                <a:ext uri="{28A0092B-C50C-407E-A947-70E740481C1C}">
                  <a14:useLocalDpi xmlns:a14="http://schemas.microsoft.com/office/drawing/2010/main" val="0"/>
                </a:ext>
              </a:extLst>
            </a:blip>
            <a:srcRect l="18900" t="34012" r="8620" b="24902"/>
            <a:stretch/>
          </p:blipFill>
          <p:spPr>
            <a:xfrm>
              <a:off x="1977130" y="1973249"/>
              <a:ext cx="1370343" cy="1097022"/>
            </a:xfrm>
            <a:prstGeom prst="rect">
              <a:avLst/>
            </a:prstGeom>
          </p:spPr>
        </p:pic>
        <p:sp>
          <p:nvSpPr>
            <p:cNvPr id="54" name="Explosion: 8 Points 53">
              <a:extLst>
                <a:ext uri="{FF2B5EF4-FFF2-40B4-BE49-F238E27FC236}">
                  <a16:creationId xmlns:a16="http://schemas.microsoft.com/office/drawing/2014/main" id="{1B1DDD2E-5F52-4227-8E7E-192A94689F9D}"/>
                </a:ext>
              </a:extLst>
            </p:cNvPr>
            <p:cNvSpPr/>
            <p:nvPr/>
          </p:nvSpPr>
          <p:spPr>
            <a:xfrm>
              <a:off x="1592137" y="2265840"/>
              <a:ext cx="651383" cy="545888"/>
            </a:xfrm>
            <a:prstGeom prst="irregularSeal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8FEC5E75-235C-459A-BD41-7A9CE47E320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32057" y="2360193"/>
              <a:ext cx="356846" cy="356846"/>
            </a:xfrm>
            <a:prstGeom prst="rect">
              <a:avLst/>
            </a:prstGeom>
          </p:spPr>
        </p:pic>
        <p:sp>
          <p:nvSpPr>
            <p:cNvPr id="55" name="Speech Bubble: Oval 54">
              <a:extLst>
                <a:ext uri="{FF2B5EF4-FFF2-40B4-BE49-F238E27FC236}">
                  <a16:creationId xmlns:a16="http://schemas.microsoft.com/office/drawing/2014/main" id="{410A8FE4-2E42-4F51-8B0C-850764FD29BD}"/>
                </a:ext>
              </a:extLst>
            </p:cNvPr>
            <p:cNvSpPr/>
            <p:nvPr/>
          </p:nvSpPr>
          <p:spPr>
            <a:xfrm>
              <a:off x="2887027" y="2008278"/>
              <a:ext cx="514387" cy="474469"/>
            </a:xfrm>
            <a:prstGeom prst="wedgeEllipseCallout">
              <a:avLst>
                <a:gd name="adj1" fmla="val -62342"/>
                <a:gd name="adj2" fmla="val 92946"/>
              </a:avLst>
            </a:prstGeom>
            <a:blipFill>
              <a:blip r:embed="rId12"/>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55A75F1C-EB26-4C71-A701-EF654983C0E1}"/>
                </a:ext>
              </a:extLst>
            </p:cNvPr>
            <p:cNvPicPr>
              <a:picLocks noChangeAspect="1"/>
            </p:cNvPicPr>
            <p:nvPr/>
          </p:nvPicPr>
          <p:blipFill>
            <a:blip r:embed="rId8"/>
            <a:stretch>
              <a:fillRect/>
            </a:stretch>
          </p:blipFill>
          <p:spPr>
            <a:xfrm>
              <a:off x="2959796" y="2855262"/>
              <a:ext cx="352102" cy="174893"/>
            </a:xfrm>
            <a:prstGeom prst="rect">
              <a:avLst/>
            </a:prstGeom>
          </p:spPr>
        </p:pic>
        <p:sp>
          <p:nvSpPr>
            <p:cNvPr id="51" name="Multiplication Sign 50">
              <a:extLst>
                <a:ext uri="{FF2B5EF4-FFF2-40B4-BE49-F238E27FC236}">
                  <a16:creationId xmlns:a16="http://schemas.microsoft.com/office/drawing/2014/main" id="{09BFD78F-D6D8-4E5C-92ED-0EE8DFFAD1DB}"/>
                </a:ext>
              </a:extLst>
            </p:cNvPr>
            <p:cNvSpPr/>
            <p:nvPr/>
          </p:nvSpPr>
          <p:spPr>
            <a:xfrm>
              <a:off x="2801321" y="2822641"/>
              <a:ext cx="685800" cy="254754"/>
            </a:xfrm>
            <a:prstGeom prst="mathMultiply">
              <a:avLst>
                <a:gd name="adj1" fmla="val 1323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EF90FC54-591A-4135-AD87-977BD7DA2660}"/>
                </a:ext>
              </a:extLst>
            </p:cNvPr>
            <p:cNvSpPr/>
            <p:nvPr/>
          </p:nvSpPr>
          <p:spPr>
            <a:xfrm>
              <a:off x="2033016" y="3317769"/>
              <a:ext cx="1258570" cy="532590"/>
            </a:xfrm>
            <a:prstGeom prst="roundRect">
              <a:avLst>
                <a:gd name="adj" fmla="val 7725"/>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Soft and tacky</a:t>
              </a:r>
            </a:p>
            <a:p>
              <a:pPr algn="ctr"/>
              <a:r>
                <a:rPr lang="en-US" sz="800" dirty="0"/>
                <a:t>Cracks in epoxy</a:t>
              </a:r>
            </a:p>
            <a:p>
              <a:pPr algn="ctr"/>
              <a:r>
                <a:rPr lang="en-US" sz="800" dirty="0"/>
                <a:t>Voids and pinholes</a:t>
              </a:r>
            </a:p>
            <a:p>
              <a:pPr algn="ctr"/>
              <a:r>
                <a:rPr lang="en-US" sz="800" dirty="0"/>
                <a:t>Magnet detach</a:t>
              </a:r>
            </a:p>
          </p:txBody>
        </p:sp>
        <p:sp>
          <p:nvSpPr>
            <p:cNvPr id="56" name="Rectangle: Rounded Corners 55">
              <a:extLst>
                <a:ext uri="{FF2B5EF4-FFF2-40B4-BE49-F238E27FC236}">
                  <a16:creationId xmlns:a16="http://schemas.microsoft.com/office/drawing/2014/main" id="{20A6DF47-0177-4DBB-9D47-CB1D0F0C5206}"/>
                </a:ext>
              </a:extLst>
            </p:cNvPr>
            <p:cNvSpPr/>
            <p:nvPr/>
          </p:nvSpPr>
          <p:spPr>
            <a:xfrm>
              <a:off x="553184" y="3317769"/>
              <a:ext cx="1258570" cy="532590"/>
            </a:xfrm>
            <a:prstGeom prst="roundRect">
              <a:avLst>
                <a:gd name="adj" fmla="val 7725"/>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Fully cured and hard</a:t>
              </a:r>
            </a:p>
            <a:p>
              <a:pPr algn="ctr"/>
              <a:r>
                <a:rPr lang="en-US" sz="800" dirty="0"/>
                <a:t>No Cracks</a:t>
              </a:r>
            </a:p>
            <a:p>
              <a:pPr algn="ctr"/>
              <a:r>
                <a:rPr lang="en-US" sz="800" dirty="0"/>
                <a:t>Smooth glossy surface</a:t>
              </a:r>
            </a:p>
            <a:p>
              <a:pPr algn="ctr"/>
              <a:r>
                <a:rPr lang="en-US" sz="800" dirty="0"/>
                <a:t>Strong reliable bond</a:t>
              </a:r>
            </a:p>
          </p:txBody>
        </p:sp>
      </p:grpSp>
      <p:sp>
        <p:nvSpPr>
          <p:cNvPr id="93" name="Freeform: Shape 92">
            <a:extLst>
              <a:ext uri="{FF2B5EF4-FFF2-40B4-BE49-F238E27FC236}">
                <a16:creationId xmlns:a16="http://schemas.microsoft.com/office/drawing/2014/main" id="{1BEF1382-8DCC-45E8-9234-F5C86D66BDF4}"/>
              </a:ext>
            </a:extLst>
          </p:cNvPr>
          <p:cNvSpPr/>
          <p:nvPr/>
        </p:nvSpPr>
        <p:spPr>
          <a:xfrm>
            <a:off x="8248768" y="499183"/>
            <a:ext cx="3499423" cy="373220"/>
          </a:xfrm>
          <a:custGeom>
            <a:avLst/>
            <a:gdLst>
              <a:gd name="connsiteX0" fmla="*/ 1825034 w 3499423"/>
              <a:gd name="connsiteY0" fmla="*/ 0 h 373220"/>
              <a:gd name="connsiteX1" fmla="*/ 2745478 w 3499423"/>
              <a:gd name="connsiteY1" fmla="*/ 0 h 373220"/>
              <a:gd name="connsiteX2" fmla="*/ 2825249 w 3499423"/>
              <a:gd name="connsiteY2" fmla="*/ 64692 h 373220"/>
              <a:gd name="connsiteX3" fmla="*/ 2898885 w 3499423"/>
              <a:gd name="connsiteY3" fmla="*/ 69668 h 373220"/>
              <a:gd name="connsiteX4" fmla="*/ 3499423 w 3499423"/>
              <a:gd name="connsiteY4" fmla="*/ 69668 h 373220"/>
              <a:gd name="connsiteX5" fmla="*/ 3499423 w 3499423"/>
              <a:gd name="connsiteY5" fmla="*/ 310420 h 373220"/>
              <a:gd name="connsiteX6" fmla="*/ 3195659 w 3499423"/>
              <a:gd name="connsiteY6" fmla="*/ 310420 h 373220"/>
              <a:gd name="connsiteX7" fmla="*/ 3182820 w 3499423"/>
              <a:gd name="connsiteY7" fmla="*/ 312221 h 373220"/>
              <a:gd name="connsiteX8" fmla="*/ 3179634 w 3499423"/>
              <a:gd name="connsiteY8" fmla="*/ 313713 h 373220"/>
              <a:gd name="connsiteX9" fmla="*/ 3106496 w 3499423"/>
              <a:gd name="connsiteY9" fmla="*/ 313713 h 373220"/>
              <a:gd name="connsiteX10" fmla="*/ 1844461 w 3499423"/>
              <a:gd name="connsiteY10" fmla="*/ 313713 h 373220"/>
              <a:gd name="connsiteX11" fmla="*/ 1787407 w 3499423"/>
              <a:gd name="connsiteY11" fmla="*/ 370767 h 373220"/>
              <a:gd name="connsiteX12" fmla="*/ 1781057 w 3499423"/>
              <a:gd name="connsiteY12" fmla="*/ 370767 h 373220"/>
              <a:gd name="connsiteX13" fmla="*/ 1781057 w 3499423"/>
              <a:gd name="connsiteY13" fmla="*/ 373220 h 373220"/>
              <a:gd name="connsiteX14" fmla="*/ 1345638 w 3499423"/>
              <a:gd name="connsiteY14" fmla="*/ 373220 h 373220"/>
              <a:gd name="connsiteX15" fmla="*/ 534536 w 3499423"/>
              <a:gd name="connsiteY15" fmla="*/ 373220 h 373220"/>
              <a:gd name="connsiteX16" fmla="*/ 0 w 3499423"/>
              <a:gd name="connsiteY16" fmla="*/ 373220 h 373220"/>
              <a:gd name="connsiteX17" fmla="*/ 0 w 3499423"/>
              <a:gd name="connsiteY17" fmla="*/ 349998 h 373220"/>
              <a:gd name="connsiteX18" fmla="*/ 0 w 3499423"/>
              <a:gd name="connsiteY18" fmla="*/ 264372 h 373220"/>
              <a:gd name="connsiteX19" fmla="*/ 0 w 3499423"/>
              <a:gd name="connsiteY19" fmla="*/ 94549 h 373220"/>
              <a:gd name="connsiteX20" fmla="*/ 1708445 w 3499423"/>
              <a:gd name="connsiteY20" fmla="*/ 94549 h 37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9423" h="373220">
                <a:moveTo>
                  <a:pt x="1825034" y="0"/>
                </a:moveTo>
                <a:lnTo>
                  <a:pt x="2745478" y="0"/>
                </a:lnTo>
                <a:lnTo>
                  <a:pt x="2825249" y="64692"/>
                </a:lnTo>
                <a:lnTo>
                  <a:pt x="2898885" y="69668"/>
                </a:lnTo>
                <a:lnTo>
                  <a:pt x="3499423" y="69668"/>
                </a:lnTo>
                <a:lnTo>
                  <a:pt x="3499423" y="310420"/>
                </a:lnTo>
                <a:lnTo>
                  <a:pt x="3195659" y="310420"/>
                </a:lnTo>
                <a:cubicBezTo>
                  <a:pt x="3191105" y="310420"/>
                  <a:pt x="3186767" y="311062"/>
                  <a:pt x="3182820" y="312221"/>
                </a:cubicBezTo>
                <a:lnTo>
                  <a:pt x="3179634" y="313713"/>
                </a:lnTo>
                <a:lnTo>
                  <a:pt x="3106496" y="313713"/>
                </a:lnTo>
                <a:lnTo>
                  <a:pt x="1844461" y="313713"/>
                </a:lnTo>
                <a:lnTo>
                  <a:pt x="1787407" y="370767"/>
                </a:lnTo>
                <a:lnTo>
                  <a:pt x="1781057" y="370767"/>
                </a:lnTo>
                <a:lnTo>
                  <a:pt x="1781057" y="373220"/>
                </a:lnTo>
                <a:lnTo>
                  <a:pt x="1345638" y="373220"/>
                </a:lnTo>
                <a:lnTo>
                  <a:pt x="534536" y="373220"/>
                </a:lnTo>
                <a:lnTo>
                  <a:pt x="0" y="373220"/>
                </a:lnTo>
                <a:lnTo>
                  <a:pt x="0" y="349998"/>
                </a:lnTo>
                <a:lnTo>
                  <a:pt x="0" y="264372"/>
                </a:lnTo>
                <a:lnTo>
                  <a:pt x="0" y="94549"/>
                </a:lnTo>
                <a:lnTo>
                  <a:pt x="1708445" y="94549"/>
                </a:lnTo>
                <a:close/>
              </a:path>
            </a:pathLst>
          </a:custGeom>
          <a:gradFill>
            <a:gsLst>
              <a:gs pos="23000">
                <a:srgbClr val="022746">
                  <a:lumMod val="46000"/>
                  <a:alpha val="34000"/>
                </a:srgbClr>
              </a:gs>
              <a:gs pos="62000">
                <a:srgbClr val="082F4F">
                  <a:alpha val="45000"/>
                </a:srgbClr>
              </a:gs>
              <a:gs pos="91000">
                <a:srgbClr val="082F4F">
                  <a:lumMod val="75000"/>
                  <a:lumOff val="25000"/>
                  <a:alpha val="55000"/>
                </a:srgbClr>
              </a:gs>
            </a:gsLst>
            <a:lin ang="0" scaled="0"/>
          </a:gradFill>
          <a:ln>
            <a:gradFill>
              <a:gsLst>
                <a:gs pos="0">
                  <a:schemeClr val="accent1">
                    <a:lumMod val="5000"/>
                    <a:lumOff val="95000"/>
                    <a:alpha val="37000"/>
                  </a:schemeClr>
                </a:gs>
                <a:gs pos="100000">
                  <a:schemeClr val="accent1">
                    <a:lumMod val="30000"/>
                    <a:lumOff val="70000"/>
                    <a:alpha val="600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p>
        </p:txBody>
      </p:sp>
      <p:sp>
        <p:nvSpPr>
          <p:cNvPr id="68" name="TextBox 67">
            <a:extLst>
              <a:ext uri="{FF2B5EF4-FFF2-40B4-BE49-F238E27FC236}">
                <a16:creationId xmlns:a16="http://schemas.microsoft.com/office/drawing/2014/main" id="{4EB12443-FCB2-4CAB-92AD-8E6D9BFEFCB9}"/>
              </a:ext>
            </a:extLst>
          </p:cNvPr>
          <p:cNvSpPr txBox="1"/>
          <p:nvPr/>
        </p:nvSpPr>
        <p:spPr>
          <a:xfrm>
            <a:off x="8643112" y="579212"/>
            <a:ext cx="1146339" cy="307777"/>
          </a:xfrm>
          <a:prstGeom prst="rect">
            <a:avLst/>
          </a:prstGeom>
          <a:noFill/>
        </p:spPr>
        <p:txBody>
          <a:bodyPr wrap="none" rtlCol="0">
            <a:spAutoFit/>
          </a:bodyPr>
          <a:lstStyle/>
          <a:p>
            <a:pPr algn="l"/>
            <a:r>
              <a:rPr lang="en-US" sz="1400" dirty="0">
                <a:solidFill>
                  <a:srgbClr val="FDF9FF"/>
                </a:solidFill>
              </a:rPr>
              <a:t>3.0 Objective</a:t>
            </a:r>
          </a:p>
        </p:txBody>
      </p:sp>
      <p:sp>
        <p:nvSpPr>
          <p:cNvPr id="85" name="Freeform: Shape 84">
            <a:extLst>
              <a:ext uri="{FF2B5EF4-FFF2-40B4-BE49-F238E27FC236}">
                <a16:creationId xmlns:a16="http://schemas.microsoft.com/office/drawing/2014/main" id="{CFD5B0C8-CE9C-42D5-8D4A-B85197D29418}"/>
              </a:ext>
            </a:extLst>
          </p:cNvPr>
          <p:cNvSpPr/>
          <p:nvPr/>
        </p:nvSpPr>
        <p:spPr>
          <a:xfrm>
            <a:off x="8235003" y="986801"/>
            <a:ext cx="3523854" cy="2807370"/>
          </a:xfrm>
          <a:custGeom>
            <a:avLst/>
            <a:gdLst>
              <a:gd name="connsiteX0" fmla="*/ 540661 w 3523854"/>
              <a:gd name="connsiteY0" fmla="*/ 0 h 2959959"/>
              <a:gd name="connsiteX1" fmla="*/ 2754317 w 3523854"/>
              <a:gd name="connsiteY1" fmla="*/ 0 h 2959959"/>
              <a:gd name="connsiteX2" fmla="*/ 2834317 w 3523854"/>
              <a:gd name="connsiteY2" fmla="*/ 80000 h 2959959"/>
              <a:gd name="connsiteX3" fmla="*/ 3523854 w 3523854"/>
              <a:gd name="connsiteY3" fmla="*/ 80000 h 2959959"/>
              <a:gd name="connsiteX4" fmla="*/ 3523854 w 3523854"/>
              <a:gd name="connsiteY4" fmla="*/ 2846232 h 2959959"/>
              <a:gd name="connsiteX5" fmla="*/ 3522712 w 3523854"/>
              <a:gd name="connsiteY5" fmla="*/ 2846232 h 2959959"/>
              <a:gd name="connsiteX6" fmla="*/ 3522712 w 3523854"/>
              <a:gd name="connsiteY6" fmla="*/ 2957269 h 2959959"/>
              <a:gd name="connsiteX7" fmla="*/ 1787762 w 3523854"/>
              <a:gd name="connsiteY7" fmla="*/ 2957269 h 2959959"/>
              <a:gd name="connsiteX8" fmla="*/ 1785275 w 3523854"/>
              <a:gd name="connsiteY8" fmla="*/ 2959959 h 2959959"/>
              <a:gd name="connsiteX9" fmla="*/ 1764660 w 3523854"/>
              <a:gd name="connsiteY9" fmla="*/ 2959959 h 2959959"/>
              <a:gd name="connsiteX10" fmla="*/ 1764660 w 3523854"/>
              <a:gd name="connsiteY10" fmla="*/ 2923213 h 2959959"/>
              <a:gd name="connsiteX11" fmla="*/ 1188397 w 3523854"/>
              <a:gd name="connsiteY11" fmla="*/ 2923213 h 2959959"/>
              <a:gd name="connsiteX12" fmla="*/ 1151651 w 3523854"/>
              <a:gd name="connsiteY12" fmla="*/ 2959959 h 2959959"/>
              <a:gd name="connsiteX13" fmla="*/ 651357 w 3523854"/>
              <a:gd name="connsiteY13" fmla="*/ 2959959 h 2959959"/>
              <a:gd name="connsiteX14" fmla="*/ 377418 w 3523854"/>
              <a:gd name="connsiteY14" fmla="*/ 2959959 h 2959959"/>
              <a:gd name="connsiteX15" fmla="*/ 264472 w 3523854"/>
              <a:gd name="connsiteY15" fmla="*/ 2847013 h 2959959"/>
              <a:gd name="connsiteX16" fmla="*/ 2310 w 3523854"/>
              <a:gd name="connsiteY16" fmla="*/ 2847013 h 2959959"/>
              <a:gd name="connsiteX17" fmla="*/ 2310 w 3523854"/>
              <a:gd name="connsiteY17" fmla="*/ 327651 h 2959959"/>
              <a:gd name="connsiteX18" fmla="*/ 0 w 3523854"/>
              <a:gd name="connsiteY18" fmla="*/ 327651 h 2959959"/>
              <a:gd name="connsiteX19" fmla="*/ 0 w 3523854"/>
              <a:gd name="connsiteY19" fmla="*/ 299 h 2959959"/>
              <a:gd name="connsiteX20" fmla="*/ 540163 w 3523854"/>
              <a:gd name="connsiteY20" fmla="*/ 299 h 295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23854" h="2959959">
                <a:moveTo>
                  <a:pt x="540661" y="0"/>
                </a:moveTo>
                <a:lnTo>
                  <a:pt x="2754317" y="0"/>
                </a:lnTo>
                <a:lnTo>
                  <a:pt x="2834317" y="80000"/>
                </a:lnTo>
                <a:lnTo>
                  <a:pt x="3523854" y="80000"/>
                </a:lnTo>
                <a:lnTo>
                  <a:pt x="3523854" y="2846232"/>
                </a:lnTo>
                <a:lnTo>
                  <a:pt x="3522712" y="2846232"/>
                </a:lnTo>
                <a:lnTo>
                  <a:pt x="3522712" y="2957269"/>
                </a:lnTo>
                <a:lnTo>
                  <a:pt x="1787762" y="2957269"/>
                </a:lnTo>
                <a:lnTo>
                  <a:pt x="1785275" y="2959959"/>
                </a:lnTo>
                <a:lnTo>
                  <a:pt x="1764660" y="2959959"/>
                </a:lnTo>
                <a:lnTo>
                  <a:pt x="1764660" y="2923213"/>
                </a:lnTo>
                <a:lnTo>
                  <a:pt x="1188397" y="2923213"/>
                </a:lnTo>
                <a:lnTo>
                  <a:pt x="1151651" y="2959959"/>
                </a:lnTo>
                <a:lnTo>
                  <a:pt x="651357" y="2959959"/>
                </a:lnTo>
                <a:lnTo>
                  <a:pt x="377418" y="2959959"/>
                </a:lnTo>
                <a:lnTo>
                  <a:pt x="264472" y="2847013"/>
                </a:lnTo>
                <a:lnTo>
                  <a:pt x="2310" y="2847013"/>
                </a:lnTo>
                <a:lnTo>
                  <a:pt x="2310" y="327651"/>
                </a:lnTo>
                <a:lnTo>
                  <a:pt x="0" y="327651"/>
                </a:lnTo>
                <a:lnTo>
                  <a:pt x="0" y="299"/>
                </a:lnTo>
                <a:lnTo>
                  <a:pt x="540163" y="299"/>
                </a:lnTo>
                <a:close/>
              </a:path>
            </a:pathLst>
          </a:custGeom>
          <a:gradFill>
            <a:gsLst>
              <a:gs pos="0">
                <a:srgbClr val="022746">
                  <a:lumMod val="45000"/>
                  <a:alpha val="45000"/>
                </a:srgbClr>
              </a:gs>
              <a:gs pos="49000">
                <a:srgbClr val="082F4F">
                  <a:lumMod val="100000"/>
                  <a:alpha val="67000"/>
                </a:srgbClr>
              </a:gs>
              <a:gs pos="100000">
                <a:schemeClr val="accent1">
                  <a:lumMod val="89000"/>
                  <a:lumOff val="11000"/>
                  <a:alpha val="3000"/>
                </a:schemeClr>
              </a:gs>
            </a:gsLst>
            <a:lin ang="0" scaled="0"/>
          </a:gradFill>
          <a:ln>
            <a:gradFill>
              <a:gsLst>
                <a:gs pos="0">
                  <a:schemeClr val="accent1">
                    <a:lumMod val="5000"/>
                    <a:lumOff val="95000"/>
                    <a:alpha val="41000"/>
                  </a:schemeClr>
                </a:gs>
                <a:gs pos="100000">
                  <a:schemeClr val="accent1">
                    <a:lumMod val="30000"/>
                    <a:lumOff val="70000"/>
                    <a:alpha val="500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p>
        </p:txBody>
      </p:sp>
      <p:sp>
        <p:nvSpPr>
          <p:cNvPr id="70" name="TextBox 69">
            <a:extLst>
              <a:ext uri="{FF2B5EF4-FFF2-40B4-BE49-F238E27FC236}">
                <a16:creationId xmlns:a16="http://schemas.microsoft.com/office/drawing/2014/main" id="{2084D76F-9288-49E2-9EC8-CBD7710C0A22}"/>
              </a:ext>
            </a:extLst>
          </p:cNvPr>
          <p:cNvSpPr txBox="1"/>
          <p:nvPr/>
        </p:nvSpPr>
        <p:spPr>
          <a:xfrm>
            <a:off x="8297713" y="1000873"/>
            <a:ext cx="3521542" cy="3323987"/>
          </a:xfrm>
          <a:prstGeom prst="rect">
            <a:avLst/>
          </a:prstGeom>
          <a:noFill/>
          <a:ln>
            <a:noFill/>
          </a:ln>
        </p:spPr>
        <p:txBody>
          <a:bodyPr wrap="square" rtlCol="0">
            <a:spAutoFit/>
          </a:bodyPr>
          <a:lstStyle/>
          <a:p>
            <a:pPr algn="l"/>
            <a:r>
              <a:rPr lang="en-US" sz="1050" dirty="0">
                <a:solidFill>
                  <a:schemeClr val="bg1"/>
                </a:solidFill>
              </a:rPr>
              <a:t>Implementation of a </a:t>
            </a:r>
            <a:r>
              <a:rPr lang="en-US" sz="1050" dirty="0" err="1">
                <a:solidFill>
                  <a:schemeClr val="bg1"/>
                </a:solidFill>
              </a:rPr>
              <a:t>Essemtec</a:t>
            </a:r>
            <a:r>
              <a:rPr lang="en-US" sz="1050" dirty="0">
                <a:solidFill>
                  <a:schemeClr val="bg1"/>
                </a:solidFill>
              </a:rPr>
              <a:t> Epoxy Timer System for Real-Time Pot-Life Monitoring and Process Control</a:t>
            </a:r>
          </a:p>
          <a:p>
            <a:pPr algn="l"/>
            <a:endParaRPr lang="en-US" sz="1050" dirty="0">
              <a:solidFill>
                <a:schemeClr val="bg1"/>
              </a:solidFill>
            </a:endParaRPr>
          </a:p>
          <a:p>
            <a:pPr algn="l"/>
            <a:r>
              <a:rPr lang="en-US" sz="1050" dirty="0">
                <a:solidFill>
                  <a:schemeClr val="bg1"/>
                </a:solidFill>
              </a:rPr>
              <a:t>Minimizes risks of magnet lifting, voids, delamination, and weak magnet attachment.</a:t>
            </a:r>
          </a:p>
          <a:p>
            <a:pPr algn="l"/>
            <a:r>
              <a:rPr lang="en-US" sz="1050" dirty="0">
                <a:solidFill>
                  <a:schemeClr val="bg1"/>
                </a:solidFill>
              </a:rPr>
              <a:t>Prevents the use of expired or out-of-pot-life epoxy.</a:t>
            </a:r>
          </a:p>
          <a:p>
            <a:pPr algn="l"/>
            <a:r>
              <a:rPr lang="en-US" sz="1050" dirty="0">
                <a:solidFill>
                  <a:schemeClr val="bg1"/>
                </a:solidFill>
              </a:rPr>
              <a:t>Ensures consistent magnet bond strength and adhesion.</a:t>
            </a:r>
          </a:p>
          <a:p>
            <a:pPr algn="l"/>
            <a:r>
              <a:rPr lang="en-US" sz="1050" dirty="0">
                <a:solidFill>
                  <a:schemeClr val="bg1"/>
                </a:solidFill>
              </a:rPr>
              <a:t>Provides alarms or notifications when epoxy approaches its allowable working time.</a:t>
            </a:r>
          </a:p>
          <a:p>
            <a:pPr algn="l"/>
            <a:r>
              <a:rPr lang="en-US" sz="1050" dirty="0">
                <a:solidFill>
                  <a:schemeClr val="bg1"/>
                </a:solidFill>
              </a:rPr>
              <a:t>Reduces dependence on manual monitoring.</a:t>
            </a:r>
          </a:p>
          <a:p>
            <a:pPr algn="l"/>
            <a:r>
              <a:rPr lang="en-US" sz="1050" dirty="0">
                <a:solidFill>
                  <a:schemeClr val="bg1"/>
                </a:solidFill>
              </a:rPr>
              <a:t>Optimizes epoxy consumption and prevents unnecessary disposal due to uncertainty of remaining pot life.</a:t>
            </a:r>
          </a:p>
          <a:p>
            <a:pPr algn="l"/>
            <a:r>
              <a:rPr lang="en-US" sz="1050" dirty="0">
                <a:solidFill>
                  <a:schemeClr val="bg1"/>
                </a:solidFill>
              </a:rPr>
              <a:t>Automates timing and monitoring activities, allowing operators to focus on production tasks.</a:t>
            </a:r>
          </a:p>
          <a:p>
            <a:pPr algn="l"/>
            <a:r>
              <a:rPr lang="en-US" sz="1050" dirty="0">
                <a:solidFill>
                  <a:schemeClr val="bg1"/>
                </a:solidFill>
              </a:rPr>
              <a:t>Maintains compliance with semiconductor manufacturing procedures and quality standards.</a:t>
            </a: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a:p>
            <a:pPr algn="l"/>
            <a:endParaRPr lang="en-US" sz="1050" dirty="0">
              <a:solidFill>
                <a:schemeClr val="bg1"/>
              </a:solidFill>
            </a:endParaRPr>
          </a:p>
        </p:txBody>
      </p:sp>
      <p:sp>
        <p:nvSpPr>
          <p:cNvPr id="78" name="Freeform: Shape 77">
            <a:extLst>
              <a:ext uri="{FF2B5EF4-FFF2-40B4-BE49-F238E27FC236}">
                <a16:creationId xmlns:a16="http://schemas.microsoft.com/office/drawing/2014/main" id="{5A18F1BA-53C2-41D7-9F02-BE55102C215D}"/>
              </a:ext>
            </a:extLst>
          </p:cNvPr>
          <p:cNvSpPr/>
          <p:nvPr/>
        </p:nvSpPr>
        <p:spPr>
          <a:xfrm>
            <a:off x="5315948" y="4155440"/>
            <a:ext cx="2527378" cy="2458929"/>
          </a:xfrm>
          <a:custGeom>
            <a:avLst/>
            <a:gdLst>
              <a:gd name="connsiteX0" fmla="*/ 1046752 w 2527378"/>
              <a:gd name="connsiteY0" fmla="*/ 0 h 2458929"/>
              <a:gd name="connsiteX1" fmla="*/ 2526302 w 2527378"/>
              <a:gd name="connsiteY1" fmla="*/ 0 h 2458929"/>
              <a:gd name="connsiteX2" fmla="*/ 2526302 w 2527378"/>
              <a:gd name="connsiteY2" fmla="*/ 119406 h 2458929"/>
              <a:gd name="connsiteX3" fmla="*/ 2527378 w 2527378"/>
              <a:gd name="connsiteY3" fmla="*/ 119406 h 2458929"/>
              <a:gd name="connsiteX4" fmla="*/ 2527378 w 2527378"/>
              <a:gd name="connsiteY4" fmla="*/ 2369040 h 2458929"/>
              <a:gd name="connsiteX5" fmla="*/ 1355080 w 2527378"/>
              <a:gd name="connsiteY5" fmla="*/ 2369040 h 2458929"/>
              <a:gd name="connsiteX6" fmla="*/ 1279617 w 2527378"/>
              <a:gd name="connsiteY6" fmla="*/ 2458929 h 2458929"/>
              <a:gd name="connsiteX7" fmla="*/ 465815 w 2527378"/>
              <a:gd name="connsiteY7" fmla="*/ 2458929 h 2458929"/>
              <a:gd name="connsiteX8" fmla="*/ 248309 w 2527378"/>
              <a:gd name="connsiteY8" fmla="*/ 2458929 h 2458929"/>
              <a:gd name="connsiteX9" fmla="*/ 0 w 2527378"/>
              <a:gd name="connsiteY9" fmla="*/ 2458929 h 2458929"/>
              <a:gd name="connsiteX10" fmla="*/ 0 w 2527378"/>
              <a:gd name="connsiteY10" fmla="*/ 178874 h 2458929"/>
              <a:gd name="connsiteX11" fmla="*/ 296448 w 2527378"/>
              <a:gd name="connsiteY11" fmla="*/ 178874 h 2458929"/>
              <a:gd name="connsiteX12" fmla="*/ 386370 w 2527378"/>
              <a:gd name="connsiteY12" fmla="*/ 119406 h 2458929"/>
              <a:gd name="connsiteX13" fmla="*/ 927346 w 2527378"/>
              <a:gd name="connsiteY13" fmla="*/ 119406 h 24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7378" h="2458929">
                <a:moveTo>
                  <a:pt x="1046752" y="0"/>
                </a:moveTo>
                <a:lnTo>
                  <a:pt x="2526302" y="0"/>
                </a:lnTo>
                <a:lnTo>
                  <a:pt x="2526302" y="119406"/>
                </a:lnTo>
                <a:lnTo>
                  <a:pt x="2527378" y="119406"/>
                </a:lnTo>
                <a:lnTo>
                  <a:pt x="2527378" y="2369040"/>
                </a:lnTo>
                <a:lnTo>
                  <a:pt x="1355080" y="2369040"/>
                </a:lnTo>
                <a:lnTo>
                  <a:pt x="1279617" y="2458929"/>
                </a:lnTo>
                <a:lnTo>
                  <a:pt x="465815" y="2458929"/>
                </a:lnTo>
                <a:lnTo>
                  <a:pt x="248309" y="2458929"/>
                </a:lnTo>
                <a:lnTo>
                  <a:pt x="0" y="2458929"/>
                </a:lnTo>
                <a:lnTo>
                  <a:pt x="0" y="178874"/>
                </a:lnTo>
                <a:lnTo>
                  <a:pt x="296448" y="178874"/>
                </a:lnTo>
                <a:lnTo>
                  <a:pt x="386370" y="119406"/>
                </a:lnTo>
                <a:lnTo>
                  <a:pt x="927346" y="119406"/>
                </a:lnTo>
                <a:close/>
              </a:path>
            </a:pathLst>
          </a:custGeom>
          <a:gradFill>
            <a:gsLst>
              <a:gs pos="0">
                <a:srgbClr val="022746">
                  <a:lumMod val="46000"/>
                  <a:alpha val="11000"/>
                </a:srgbClr>
              </a:gs>
              <a:gs pos="49000">
                <a:srgbClr val="082F4F">
                  <a:lumMod val="100000"/>
                  <a:alpha val="63000"/>
                </a:srgbClr>
              </a:gs>
              <a:gs pos="100000">
                <a:schemeClr val="accent1">
                  <a:lumMod val="89000"/>
                  <a:lumOff val="11000"/>
                  <a:alpha val="73000"/>
                </a:schemeClr>
              </a:gs>
            </a:gsLst>
            <a:lin ang="0" scaled="0"/>
          </a:gradFill>
          <a:ln>
            <a:gradFill>
              <a:gsLst>
                <a:gs pos="0">
                  <a:schemeClr val="accent1">
                    <a:lumMod val="5000"/>
                    <a:lumOff val="95000"/>
                    <a:alpha val="41000"/>
                  </a:schemeClr>
                </a:gs>
                <a:gs pos="100000">
                  <a:schemeClr val="accent1">
                    <a:lumMod val="30000"/>
                    <a:lumOff val="70000"/>
                    <a:alpha val="500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p>
        </p:txBody>
      </p:sp>
      <p:sp>
        <p:nvSpPr>
          <p:cNvPr id="75" name="TextBox 74">
            <a:extLst>
              <a:ext uri="{FF2B5EF4-FFF2-40B4-BE49-F238E27FC236}">
                <a16:creationId xmlns:a16="http://schemas.microsoft.com/office/drawing/2014/main" id="{FCB4BE73-B8B6-430B-B03C-6BA0E304DBCE}"/>
              </a:ext>
            </a:extLst>
          </p:cNvPr>
          <p:cNvSpPr txBox="1"/>
          <p:nvPr/>
        </p:nvSpPr>
        <p:spPr>
          <a:xfrm>
            <a:off x="5360090" y="4451882"/>
            <a:ext cx="2527377" cy="2192908"/>
          </a:xfrm>
          <a:prstGeom prst="rect">
            <a:avLst/>
          </a:prstGeom>
          <a:noFill/>
          <a:ln>
            <a:noFill/>
          </a:ln>
        </p:spPr>
        <p:txBody>
          <a:bodyPr wrap="square" rtlCol="0">
            <a:spAutoFit/>
          </a:bodyPr>
          <a:lstStyle/>
          <a:p>
            <a:pPr algn="l"/>
            <a:r>
              <a:rPr lang="en-US" sz="1050" dirty="0">
                <a:solidFill>
                  <a:schemeClr val="bg1"/>
                </a:solidFill>
              </a:rPr>
              <a:t>Based on the identified causes, the team developed an </a:t>
            </a:r>
            <a:r>
              <a:rPr lang="en-US" sz="1050" b="1" dirty="0">
                <a:solidFill>
                  <a:schemeClr val="bg1"/>
                </a:solidFill>
              </a:rPr>
              <a:t>affordable in-house epoxy timer </a:t>
            </a:r>
            <a:r>
              <a:rPr lang="en-US" sz="1050" dirty="0">
                <a:solidFill>
                  <a:schemeClr val="bg1"/>
                </a:solidFill>
              </a:rPr>
              <a:t>using readily available components and materials. The analysis highlighted two key contributors: Machine, due to the lack or high cost of timer integration, and Method, due to inconsistent timing and tracking practices. By addressing these factors, the team was able to implement a practical, touch screen technology and cost-effective solution for reliable epoxy time monitoring.</a:t>
            </a:r>
          </a:p>
          <a:p>
            <a:pPr algn="l"/>
            <a:endParaRPr lang="en-US" sz="1050" dirty="0">
              <a:solidFill>
                <a:schemeClr val="bg1"/>
              </a:solidFill>
            </a:endParaRPr>
          </a:p>
        </p:txBody>
      </p:sp>
      <p:sp>
        <p:nvSpPr>
          <p:cNvPr id="52" name="Arrow: Right 51">
            <a:extLst>
              <a:ext uri="{FF2B5EF4-FFF2-40B4-BE49-F238E27FC236}">
                <a16:creationId xmlns:a16="http://schemas.microsoft.com/office/drawing/2014/main" id="{768698AE-7A2A-437A-9872-445BCE72766E}"/>
              </a:ext>
            </a:extLst>
          </p:cNvPr>
          <p:cNvSpPr/>
          <p:nvPr/>
        </p:nvSpPr>
        <p:spPr>
          <a:xfrm>
            <a:off x="5009574" y="5384693"/>
            <a:ext cx="302700" cy="327639"/>
          </a:xfrm>
          <a:prstGeom prst="rightArrow">
            <a:avLst/>
          </a:prstGeom>
          <a:solidFill>
            <a:schemeClr val="accent1">
              <a:alpha val="68000"/>
            </a:schemeClr>
          </a:solidFill>
          <a:ln w="9525">
            <a:gradFill>
              <a:gsLst>
                <a:gs pos="100000">
                  <a:schemeClr val="accent1">
                    <a:lumMod val="45000"/>
                    <a:lumOff val="55000"/>
                    <a:alpha val="0"/>
                  </a:schemeClr>
                </a:gs>
                <a:gs pos="0">
                  <a:schemeClr val="bg1">
                    <a:alpha val="8800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F65718B6-A72E-480D-92AE-C78687110213}"/>
              </a:ext>
            </a:extLst>
          </p:cNvPr>
          <p:cNvSpPr/>
          <p:nvPr/>
        </p:nvSpPr>
        <p:spPr>
          <a:xfrm>
            <a:off x="8128499" y="4119418"/>
            <a:ext cx="3698376" cy="2397161"/>
          </a:xfrm>
          <a:custGeom>
            <a:avLst/>
            <a:gdLst>
              <a:gd name="connsiteX0" fmla="*/ 3359 w 3562534"/>
              <a:gd name="connsiteY0" fmla="*/ 0 h 2415749"/>
              <a:gd name="connsiteX1" fmla="*/ 249739 w 3562534"/>
              <a:gd name="connsiteY1" fmla="*/ 0 h 2415749"/>
              <a:gd name="connsiteX2" fmla="*/ 326414 w 3562534"/>
              <a:gd name="connsiteY2" fmla="*/ 76675 h 2415749"/>
              <a:gd name="connsiteX3" fmla="*/ 544535 w 3562534"/>
              <a:gd name="connsiteY3" fmla="*/ 76675 h 2415749"/>
              <a:gd name="connsiteX4" fmla="*/ 545492 w 3562534"/>
              <a:gd name="connsiteY4" fmla="*/ 76226 h 2415749"/>
              <a:gd name="connsiteX5" fmla="*/ 3562534 w 3562534"/>
              <a:gd name="connsiteY5" fmla="*/ 76226 h 2415749"/>
              <a:gd name="connsiteX6" fmla="*/ 3562534 w 3562534"/>
              <a:gd name="connsiteY6" fmla="*/ 2325860 h 2415749"/>
              <a:gd name="connsiteX7" fmla="*/ 3558060 w 3562534"/>
              <a:gd name="connsiteY7" fmla="*/ 2325860 h 2415749"/>
              <a:gd name="connsiteX8" fmla="*/ 3558060 w 3562534"/>
              <a:gd name="connsiteY8" fmla="*/ 2415749 h 2415749"/>
              <a:gd name="connsiteX9" fmla="*/ 1804227 w 3562534"/>
              <a:gd name="connsiteY9" fmla="*/ 2415749 h 2415749"/>
              <a:gd name="connsiteX10" fmla="*/ 1336970 w 3562534"/>
              <a:gd name="connsiteY10" fmla="*/ 2415749 h 2415749"/>
              <a:gd name="connsiteX11" fmla="*/ 700305 w 3562534"/>
              <a:gd name="connsiteY11" fmla="*/ 2415749 h 2415749"/>
              <a:gd name="connsiteX12" fmla="*/ 581893 w 3562534"/>
              <a:gd name="connsiteY12" fmla="*/ 2331720 h 2415749"/>
              <a:gd name="connsiteX13" fmla="*/ 1033 w 3562534"/>
              <a:gd name="connsiteY13" fmla="*/ 2331720 h 2415749"/>
              <a:gd name="connsiteX14" fmla="*/ 1033 w 3562534"/>
              <a:gd name="connsiteY14" fmla="*/ 330413 h 2415749"/>
              <a:gd name="connsiteX15" fmla="*/ 0 w 3562534"/>
              <a:gd name="connsiteY15" fmla="*/ 330413 h 2415749"/>
              <a:gd name="connsiteX16" fmla="*/ 0 w 3562534"/>
              <a:gd name="connsiteY16" fmla="*/ 76675 h 2415749"/>
              <a:gd name="connsiteX17" fmla="*/ 3359 w 3562534"/>
              <a:gd name="connsiteY17" fmla="*/ 76675 h 2415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62534" h="2415749">
                <a:moveTo>
                  <a:pt x="3359" y="0"/>
                </a:moveTo>
                <a:lnTo>
                  <a:pt x="249739" y="0"/>
                </a:lnTo>
                <a:lnTo>
                  <a:pt x="326414" y="76675"/>
                </a:lnTo>
                <a:lnTo>
                  <a:pt x="544535" y="76675"/>
                </a:lnTo>
                <a:lnTo>
                  <a:pt x="545492" y="76226"/>
                </a:lnTo>
                <a:lnTo>
                  <a:pt x="3562534" y="76226"/>
                </a:lnTo>
                <a:lnTo>
                  <a:pt x="3562534" y="2325860"/>
                </a:lnTo>
                <a:lnTo>
                  <a:pt x="3558060" y="2325860"/>
                </a:lnTo>
                <a:lnTo>
                  <a:pt x="3558060" y="2415749"/>
                </a:lnTo>
                <a:lnTo>
                  <a:pt x="1804227" y="2415749"/>
                </a:lnTo>
                <a:lnTo>
                  <a:pt x="1336970" y="2415749"/>
                </a:lnTo>
                <a:lnTo>
                  <a:pt x="700305" y="2415749"/>
                </a:lnTo>
                <a:lnTo>
                  <a:pt x="581893" y="2331720"/>
                </a:lnTo>
                <a:lnTo>
                  <a:pt x="1033" y="2331720"/>
                </a:lnTo>
                <a:lnTo>
                  <a:pt x="1033" y="330413"/>
                </a:lnTo>
                <a:lnTo>
                  <a:pt x="0" y="330413"/>
                </a:lnTo>
                <a:lnTo>
                  <a:pt x="0" y="76675"/>
                </a:lnTo>
                <a:lnTo>
                  <a:pt x="3359" y="76675"/>
                </a:lnTo>
                <a:close/>
              </a:path>
            </a:pathLst>
          </a:custGeom>
          <a:gradFill>
            <a:gsLst>
              <a:gs pos="0">
                <a:srgbClr val="022746">
                  <a:lumMod val="46000"/>
                  <a:alpha val="11000"/>
                </a:srgbClr>
              </a:gs>
              <a:gs pos="49000">
                <a:srgbClr val="082F4F">
                  <a:lumMod val="100000"/>
                  <a:alpha val="63000"/>
                </a:srgbClr>
              </a:gs>
              <a:gs pos="100000">
                <a:schemeClr val="accent1">
                  <a:lumMod val="89000"/>
                  <a:lumOff val="11000"/>
                  <a:alpha val="73000"/>
                </a:schemeClr>
              </a:gs>
            </a:gsLst>
            <a:lin ang="0" scaled="0"/>
          </a:gradFill>
          <a:ln>
            <a:gradFill>
              <a:gsLst>
                <a:gs pos="0">
                  <a:schemeClr val="accent1">
                    <a:lumMod val="5000"/>
                    <a:lumOff val="95000"/>
                    <a:alpha val="41000"/>
                  </a:schemeClr>
                </a:gs>
                <a:gs pos="100000">
                  <a:schemeClr val="accent1">
                    <a:lumMod val="30000"/>
                    <a:lumOff val="70000"/>
                    <a:alpha val="5000"/>
                  </a:schemeClr>
                </a:gs>
              </a:gsLst>
              <a:lin ang="0" scaled="0"/>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p>
        </p:txBody>
      </p:sp>
      <p:sp>
        <p:nvSpPr>
          <p:cNvPr id="96" name="Freeform: Shape 95">
            <a:extLst>
              <a:ext uri="{FF2B5EF4-FFF2-40B4-BE49-F238E27FC236}">
                <a16:creationId xmlns:a16="http://schemas.microsoft.com/office/drawing/2014/main" id="{109ABD00-DF87-496E-AA37-C8F6FFC951A1}"/>
              </a:ext>
            </a:extLst>
          </p:cNvPr>
          <p:cNvSpPr/>
          <p:nvPr/>
        </p:nvSpPr>
        <p:spPr>
          <a:xfrm>
            <a:off x="8740001" y="3926475"/>
            <a:ext cx="2068374" cy="246729"/>
          </a:xfrm>
          <a:custGeom>
            <a:avLst/>
            <a:gdLst>
              <a:gd name="connsiteX0" fmla="*/ 198512 w 2068374"/>
              <a:gd name="connsiteY0" fmla="*/ 0 h 278671"/>
              <a:gd name="connsiteX1" fmla="*/ 579149 w 2068374"/>
              <a:gd name="connsiteY1" fmla="*/ 0 h 278671"/>
              <a:gd name="connsiteX2" fmla="*/ 614256 w 2068374"/>
              <a:gd name="connsiteY2" fmla="*/ 35107 h 278671"/>
              <a:gd name="connsiteX3" fmla="*/ 1585806 w 2068374"/>
              <a:gd name="connsiteY3" fmla="*/ 35107 h 278671"/>
              <a:gd name="connsiteX4" fmla="*/ 1633431 w 2068374"/>
              <a:gd name="connsiteY4" fmla="*/ 82732 h 278671"/>
              <a:gd name="connsiteX5" fmla="*/ 1966806 w 2068374"/>
              <a:gd name="connsiteY5" fmla="*/ 82732 h 278671"/>
              <a:gd name="connsiteX6" fmla="*/ 2049538 w 2068374"/>
              <a:gd name="connsiteY6" fmla="*/ 0 h 278671"/>
              <a:gd name="connsiteX7" fmla="*/ 2068374 w 2068374"/>
              <a:gd name="connsiteY7" fmla="*/ 0 h 278671"/>
              <a:gd name="connsiteX8" fmla="*/ 1860230 w 2068374"/>
              <a:gd name="connsiteY8" fmla="*/ 208144 h 278671"/>
              <a:gd name="connsiteX9" fmla="*/ 1501668 w 2068374"/>
              <a:gd name="connsiteY9" fmla="*/ 208144 h 278671"/>
              <a:gd name="connsiteX10" fmla="*/ 1431141 w 2068374"/>
              <a:gd name="connsiteY10" fmla="*/ 278671 h 278671"/>
              <a:gd name="connsiteX11" fmla="*/ 747149 w 2068374"/>
              <a:gd name="connsiteY11" fmla="*/ 278671 h 278671"/>
              <a:gd name="connsiteX12" fmla="*/ 0 w 2068374"/>
              <a:gd name="connsiteY12" fmla="*/ 278671 h 278671"/>
              <a:gd name="connsiteX13" fmla="*/ 0 w 2068374"/>
              <a:gd name="connsiteY13" fmla="*/ 255449 h 278671"/>
              <a:gd name="connsiteX14" fmla="*/ 0 w 2068374"/>
              <a:gd name="connsiteY14" fmla="*/ 198512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68374" h="278671">
                <a:moveTo>
                  <a:pt x="198512" y="0"/>
                </a:moveTo>
                <a:lnTo>
                  <a:pt x="579149" y="0"/>
                </a:lnTo>
                <a:lnTo>
                  <a:pt x="614256" y="35107"/>
                </a:lnTo>
                <a:lnTo>
                  <a:pt x="1585806" y="35107"/>
                </a:lnTo>
                <a:lnTo>
                  <a:pt x="1633431" y="82732"/>
                </a:lnTo>
                <a:lnTo>
                  <a:pt x="1966806" y="82732"/>
                </a:lnTo>
                <a:lnTo>
                  <a:pt x="2049538" y="0"/>
                </a:lnTo>
                <a:lnTo>
                  <a:pt x="2068374" y="0"/>
                </a:lnTo>
                <a:lnTo>
                  <a:pt x="1860230" y="208144"/>
                </a:lnTo>
                <a:lnTo>
                  <a:pt x="1501668" y="208144"/>
                </a:lnTo>
                <a:lnTo>
                  <a:pt x="1431141" y="278671"/>
                </a:lnTo>
                <a:lnTo>
                  <a:pt x="747149" y="278671"/>
                </a:lnTo>
                <a:lnTo>
                  <a:pt x="0" y="278671"/>
                </a:lnTo>
                <a:lnTo>
                  <a:pt x="0" y="255449"/>
                </a:lnTo>
                <a:lnTo>
                  <a:pt x="0" y="198512"/>
                </a:lnTo>
                <a:close/>
              </a:path>
            </a:pathLst>
          </a:custGeom>
          <a:gradFill>
            <a:gsLst>
              <a:gs pos="23000">
                <a:srgbClr val="022746">
                  <a:lumMod val="46000"/>
                  <a:alpha val="34000"/>
                </a:srgbClr>
              </a:gs>
              <a:gs pos="62000">
                <a:srgbClr val="082F4F">
                  <a:alpha val="45000"/>
                </a:srgbClr>
              </a:gs>
              <a:gs pos="91000">
                <a:srgbClr val="082F4F">
                  <a:lumMod val="75000"/>
                  <a:lumOff val="25000"/>
                  <a:alpha val="55000"/>
                </a:srgbClr>
              </a:gs>
            </a:gsLst>
            <a:lin ang="0" scaled="0"/>
          </a:gradFill>
          <a:ln>
            <a:noFill/>
          </a:ln>
          <a:effectLst>
            <a:glow rad="63500">
              <a:schemeClr val="accent5">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p>
        </p:txBody>
      </p:sp>
      <p:sp>
        <p:nvSpPr>
          <p:cNvPr id="87" name="TextBox 86">
            <a:extLst>
              <a:ext uri="{FF2B5EF4-FFF2-40B4-BE49-F238E27FC236}">
                <a16:creationId xmlns:a16="http://schemas.microsoft.com/office/drawing/2014/main" id="{9598F78C-7D8C-4F9A-8CD5-3CD626EC6AE0}"/>
              </a:ext>
            </a:extLst>
          </p:cNvPr>
          <p:cNvSpPr txBox="1"/>
          <p:nvPr/>
        </p:nvSpPr>
        <p:spPr>
          <a:xfrm>
            <a:off x="9017536" y="3926134"/>
            <a:ext cx="1114755" cy="261610"/>
          </a:xfrm>
          <a:prstGeom prst="rect">
            <a:avLst/>
          </a:prstGeom>
          <a:noFill/>
        </p:spPr>
        <p:txBody>
          <a:bodyPr wrap="square" rtlCol="0">
            <a:spAutoFit/>
          </a:bodyPr>
          <a:lstStyle/>
          <a:p>
            <a:pPr algn="l"/>
            <a:r>
              <a:rPr lang="en-US" sz="1100" dirty="0">
                <a:solidFill>
                  <a:srgbClr val="FDF9FF"/>
                </a:solidFill>
              </a:rPr>
              <a:t>Development</a:t>
            </a:r>
          </a:p>
        </p:txBody>
      </p:sp>
      <p:pic>
        <p:nvPicPr>
          <p:cNvPr id="98" name="Picture 97">
            <a:extLst>
              <a:ext uri="{FF2B5EF4-FFF2-40B4-BE49-F238E27FC236}">
                <a16:creationId xmlns:a16="http://schemas.microsoft.com/office/drawing/2014/main" id="{A4B71172-49FB-4DF6-A944-905D1649C0C7}"/>
              </a:ext>
            </a:extLst>
          </p:cNvPr>
          <p:cNvPicPr>
            <a:picLocks noChangeAspect="1"/>
          </p:cNvPicPr>
          <p:nvPr/>
        </p:nvPicPr>
        <p:blipFill>
          <a:blip r:embed="rId13"/>
          <a:stretch>
            <a:fillRect/>
          </a:stretch>
        </p:blipFill>
        <p:spPr>
          <a:xfrm>
            <a:off x="8300023" y="4463859"/>
            <a:ext cx="1667264" cy="1041013"/>
          </a:xfrm>
          <a:prstGeom prst="rect">
            <a:avLst/>
          </a:prstGeom>
        </p:spPr>
      </p:pic>
      <p:pic>
        <p:nvPicPr>
          <p:cNvPr id="100" name="Picture 99">
            <a:extLst>
              <a:ext uri="{FF2B5EF4-FFF2-40B4-BE49-F238E27FC236}">
                <a16:creationId xmlns:a16="http://schemas.microsoft.com/office/drawing/2014/main" id="{E6B523A1-554F-45F2-A743-388000C3B4E5}"/>
              </a:ext>
            </a:extLst>
          </p:cNvPr>
          <p:cNvPicPr>
            <a:picLocks noChangeAspect="1"/>
          </p:cNvPicPr>
          <p:nvPr/>
        </p:nvPicPr>
        <p:blipFill>
          <a:blip r:embed="rId14"/>
          <a:stretch>
            <a:fillRect/>
          </a:stretch>
        </p:blipFill>
        <p:spPr>
          <a:xfrm>
            <a:off x="10091250" y="4459639"/>
            <a:ext cx="1660185" cy="1047929"/>
          </a:xfrm>
          <a:prstGeom prst="rect">
            <a:avLst/>
          </a:prstGeom>
        </p:spPr>
      </p:pic>
      <p:sp>
        <p:nvSpPr>
          <p:cNvPr id="113" name="Freeform: Shape 112">
            <a:extLst>
              <a:ext uri="{FF2B5EF4-FFF2-40B4-BE49-F238E27FC236}">
                <a16:creationId xmlns:a16="http://schemas.microsoft.com/office/drawing/2014/main" id="{CF4981EE-F11C-4B0E-BC04-17F3509A4D40}"/>
              </a:ext>
            </a:extLst>
          </p:cNvPr>
          <p:cNvSpPr/>
          <p:nvPr/>
        </p:nvSpPr>
        <p:spPr>
          <a:xfrm>
            <a:off x="8298865" y="5563971"/>
            <a:ext cx="1667265" cy="836827"/>
          </a:xfrm>
          <a:custGeom>
            <a:avLst/>
            <a:gdLst>
              <a:gd name="connsiteX0" fmla="*/ 0 w 1667265"/>
              <a:gd name="connsiteY0" fmla="*/ 0 h 746071"/>
              <a:gd name="connsiteX1" fmla="*/ 197590 w 1667265"/>
              <a:gd name="connsiteY1" fmla="*/ 0 h 746071"/>
              <a:gd name="connsiteX2" fmla="*/ 1347214 w 1667265"/>
              <a:gd name="connsiteY2" fmla="*/ 0 h 746071"/>
              <a:gd name="connsiteX3" fmla="*/ 1667265 w 1667265"/>
              <a:gd name="connsiteY3" fmla="*/ 0 h 746071"/>
              <a:gd name="connsiteX4" fmla="*/ 1667265 w 1667265"/>
              <a:gd name="connsiteY4" fmla="*/ 58660 h 746071"/>
              <a:gd name="connsiteX5" fmla="*/ 1667265 w 1667265"/>
              <a:gd name="connsiteY5" fmla="*/ 687411 h 746071"/>
              <a:gd name="connsiteX6" fmla="*/ 1667265 w 1667265"/>
              <a:gd name="connsiteY6" fmla="*/ 746071 h 746071"/>
              <a:gd name="connsiteX7" fmla="*/ 1469675 w 1667265"/>
              <a:gd name="connsiteY7" fmla="*/ 746071 h 746071"/>
              <a:gd name="connsiteX8" fmla="*/ 320051 w 1667265"/>
              <a:gd name="connsiteY8" fmla="*/ 746071 h 746071"/>
              <a:gd name="connsiteX9" fmla="*/ 0 w 1667265"/>
              <a:gd name="connsiteY9" fmla="*/ 746071 h 746071"/>
              <a:gd name="connsiteX10" fmla="*/ 0 w 1667265"/>
              <a:gd name="connsiteY10" fmla="*/ 687411 h 746071"/>
              <a:gd name="connsiteX11" fmla="*/ 0 w 1667265"/>
              <a:gd name="connsiteY11" fmla="*/ 58660 h 7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7265" h="746071">
                <a:moveTo>
                  <a:pt x="0" y="0"/>
                </a:moveTo>
                <a:lnTo>
                  <a:pt x="197590" y="0"/>
                </a:lnTo>
                <a:lnTo>
                  <a:pt x="1347214" y="0"/>
                </a:lnTo>
                <a:lnTo>
                  <a:pt x="1667265" y="0"/>
                </a:lnTo>
                <a:lnTo>
                  <a:pt x="1667265" y="58660"/>
                </a:lnTo>
                <a:lnTo>
                  <a:pt x="1667265" y="687411"/>
                </a:lnTo>
                <a:lnTo>
                  <a:pt x="1667265" y="746071"/>
                </a:lnTo>
                <a:lnTo>
                  <a:pt x="1469675" y="746071"/>
                </a:lnTo>
                <a:lnTo>
                  <a:pt x="320051" y="746071"/>
                </a:lnTo>
                <a:lnTo>
                  <a:pt x="0" y="746071"/>
                </a:lnTo>
                <a:lnTo>
                  <a:pt x="0" y="687411"/>
                </a:lnTo>
                <a:lnTo>
                  <a:pt x="0" y="58660"/>
                </a:lnTo>
                <a:close/>
              </a:path>
            </a:pathLst>
          </a:custGeom>
          <a:gradFill>
            <a:gsLst>
              <a:gs pos="0">
                <a:srgbClr val="002060">
                  <a:alpha val="67000"/>
                </a:srgbClr>
              </a:gs>
              <a:gs pos="100000">
                <a:srgbClr val="00B0F0">
                  <a:alpha val="62000"/>
                </a:srgbClr>
              </a:gs>
            </a:gsLst>
            <a:lin ang="36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171450" indent="-171450">
              <a:buFont typeface="Wingdings" panose="05000000000000000000" pitchFamily="2" charset="2"/>
              <a:buChar char="§"/>
            </a:pPr>
            <a:r>
              <a:rPr lang="en-US" sz="850" dirty="0"/>
              <a:t>Electronics Assembly</a:t>
            </a:r>
          </a:p>
          <a:p>
            <a:pPr marL="171450" indent="-171450">
              <a:buFont typeface="Wingdings" panose="05000000000000000000" pitchFamily="2" charset="2"/>
              <a:buChar char="§"/>
            </a:pPr>
            <a:r>
              <a:rPr lang="en-US" sz="850" dirty="0"/>
              <a:t>Mechanical Fabrication</a:t>
            </a:r>
          </a:p>
          <a:p>
            <a:pPr marL="171450" indent="-171450">
              <a:buFont typeface="Wingdings" panose="05000000000000000000" pitchFamily="2" charset="2"/>
              <a:buChar char="§"/>
            </a:pPr>
            <a:r>
              <a:rPr lang="en-US" sz="850" dirty="0"/>
              <a:t>Micro Controllers</a:t>
            </a:r>
          </a:p>
          <a:p>
            <a:pPr marL="171450" indent="-171450">
              <a:buFont typeface="Wingdings" panose="05000000000000000000" pitchFamily="2" charset="2"/>
              <a:buChar char="§"/>
            </a:pPr>
            <a:r>
              <a:rPr lang="en-US" sz="850" dirty="0"/>
              <a:t>Touch Screen Panel</a:t>
            </a:r>
          </a:p>
        </p:txBody>
      </p:sp>
      <p:sp>
        <p:nvSpPr>
          <p:cNvPr id="105" name="Rectangle 104">
            <a:extLst>
              <a:ext uri="{FF2B5EF4-FFF2-40B4-BE49-F238E27FC236}">
                <a16:creationId xmlns:a16="http://schemas.microsoft.com/office/drawing/2014/main" id="{409D5DBB-BA43-4C24-9EE1-C570F65A38A1}"/>
              </a:ext>
            </a:extLst>
          </p:cNvPr>
          <p:cNvSpPr/>
          <p:nvPr/>
        </p:nvSpPr>
        <p:spPr>
          <a:xfrm>
            <a:off x="8300023" y="4459639"/>
            <a:ext cx="1667264" cy="10452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Shape 105">
            <a:extLst>
              <a:ext uri="{FF2B5EF4-FFF2-40B4-BE49-F238E27FC236}">
                <a16:creationId xmlns:a16="http://schemas.microsoft.com/office/drawing/2014/main" id="{098645F2-0C28-45AE-AEDE-4BFE65B47106}"/>
              </a:ext>
            </a:extLst>
          </p:cNvPr>
          <p:cNvSpPr/>
          <p:nvPr/>
        </p:nvSpPr>
        <p:spPr>
          <a:xfrm>
            <a:off x="8496300" y="4291284"/>
            <a:ext cx="1352550" cy="165100"/>
          </a:xfrm>
          <a:custGeom>
            <a:avLst/>
            <a:gdLst>
              <a:gd name="connsiteX0" fmla="*/ 0 w 1352550"/>
              <a:gd name="connsiteY0" fmla="*/ 165100 h 165100"/>
              <a:gd name="connsiteX1" fmla="*/ 165100 w 1352550"/>
              <a:gd name="connsiteY1" fmla="*/ 0 h 165100"/>
              <a:gd name="connsiteX2" fmla="*/ 1187450 w 1352550"/>
              <a:gd name="connsiteY2" fmla="*/ 0 h 165100"/>
              <a:gd name="connsiteX3" fmla="*/ 1352550 w 1352550"/>
              <a:gd name="connsiteY3" fmla="*/ 165100 h 165100"/>
              <a:gd name="connsiteX4" fmla="*/ 0 w 1352550"/>
              <a:gd name="connsiteY4" fmla="*/ 165100 h 165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50" h="165100">
                <a:moveTo>
                  <a:pt x="0" y="165100"/>
                </a:moveTo>
                <a:lnTo>
                  <a:pt x="165100" y="0"/>
                </a:lnTo>
                <a:lnTo>
                  <a:pt x="1187450" y="0"/>
                </a:lnTo>
                <a:lnTo>
                  <a:pt x="1352550" y="165100"/>
                </a:lnTo>
                <a:lnTo>
                  <a:pt x="0" y="1651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TextBox 100">
            <a:extLst>
              <a:ext uri="{FF2B5EF4-FFF2-40B4-BE49-F238E27FC236}">
                <a16:creationId xmlns:a16="http://schemas.microsoft.com/office/drawing/2014/main" id="{43556709-7A46-4A6C-B4BA-EA6BD7FDD2AF}"/>
              </a:ext>
            </a:extLst>
          </p:cNvPr>
          <p:cNvSpPr txBox="1"/>
          <p:nvPr/>
        </p:nvSpPr>
        <p:spPr>
          <a:xfrm>
            <a:off x="8786608" y="4237716"/>
            <a:ext cx="781459" cy="261610"/>
          </a:xfrm>
          <a:prstGeom prst="rect">
            <a:avLst/>
          </a:prstGeom>
          <a:noFill/>
        </p:spPr>
        <p:txBody>
          <a:bodyPr wrap="square" rtlCol="0">
            <a:spAutoFit/>
          </a:bodyPr>
          <a:lstStyle/>
          <a:p>
            <a:pPr algn="l"/>
            <a:r>
              <a:rPr lang="en-US" sz="1100" dirty="0">
                <a:solidFill>
                  <a:srgbClr val="FDF9FF"/>
                </a:solidFill>
              </a:rPr>
              <a:t>ASSEMBLY </a:t>
            </a:r>
          </a:p>
        </p:txBody>
      </p:sp>
      <p:sp>
        <p:nvSpPr>
          <p:cNvPr id="107" name="Freeform: Shape 106">
            <a:extLst>
              <a:ext uri="{FF2B5EF4-FFF2-40B4-BE49-F238E27FC236}">
                <a16:creationId xmlns:a16="http://schemas.microsoft.com/office/drawing/2014/main" id="{DA3026F6-1A23-4BE0-8F19-E1F753A31014}"/>
              </a:ext>
            </a:extLst>
          </p:cNvPr>
          <p:cNvSpPr/>
          <p:nvPr/>
        </p:nvSpPr>
        <p:spPr>
          <a:xfrm>
            <a:off x="10248796" y="4288082"/>
            <a:ext cx="1352550" cy="165100"/>
          </a:xfrm>
          <a:custGeom>
            <a:avLst/>
            <a:gdLst>
              <a:gd name="connsiteX0" fmla="*/ 0 w 1352550"/>
              <a:gd name="connsiteY0" fmla="*/ 165100 h 165100"/>
              <a:gd name="connsiteX1" fmla="*/ 165100 w 1352550"/>
              <a:gd name="connsiteY1" fmla="*/ 0 h 165100"/>
              <a:gd name="connsiteX2" fmla="*/ 1187450 w 1352550"/>
              <a:gd name="connsiteY2" fmla="*/ 0 h 165100"/>
              <a:gd name="connsiteX3" fmla="*/ 1352550 w 1352550"/>
              <a:gd name="connsiteY3" fmla="*/ 165100 h 165100"/>
              <a:gd name="connsiteX4" fmla="*/ 0 w 1352550"/>
              <a:gd name="connsiteY4" fmla="*/ 165100 h 165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50" h="165100">
                <a:moveTo>
                  <a:pt x="0" y="165100"/>
                </a:moveTo>
                <a:lnTo>
                  <a:pt x="165100" y="0"/>
                </a:lnTo>
                <a:lnTo>
                  <a:pt x="1187450" y="0"/>
                </a:lnTo>
                <a:lnTo>
                  <a:pt x="1352550" y="165100"/>
                </a:lnTo>
                <a:lnTo>
                  <a:pt x="0" y="1651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TextBox 101">
            <a:extLst>
              <a:ext uri="{FF2B5EF4-FFF2-40B4-BE49-F238E27FC236}">
                <a16:creationId xmlns:a16="http://schemas.microsoft.com/office/drawing/2014/main" id="{E951CFA2-70FA-4BB8-A578-FD53C4332351}"/>
              </a:ext>
            </a:extLst>
          </p:cNvPr>
          <p:cNvSpPr txBox="1"/>
          <p:nvPr/>
        </p:nvSpPr>
        <p:spPr>
          <a:xfrm>
            <a:off x="10373151" y="4240122"/>
            <a:ext cx="1276468" cy="261610"/>
          </a:xfrm>
          <a:prstGeom prst="rect">
            <a:avLst/>
          </a:prstGeom>
          <a:noFill/>
        </p:spPr>
        <p:txBody>
          <a:bodyPr wrap="square" rtlCol="0">
            <a:spAutoFit/>
          </a:bodyPr>
          <a:lstStyle/>
          <a:p>
            <a:pPr algn="l"/>
            <a:r>
              <a:rPr lang="en-US" sz="1100" dirty="0">
                <a:solidFill>
                  <a:srgbClr val="FDF9FF"/>
                </a:solidFill>
              </a:rPr>
              <a:t>PROGRAMMING </a:t>
            </a:r>
          </a:p>
        </p:txBody>
      </p:sp>
      <p:sp>
        <p:nvSpPr>
          <p:cNvPr id="110" name="Rectangle 109">
            <a:extLst>
              <a:ext uri="{FF2B5EF4-FFF2-40B4-BE49-F238E27FC236}">
                <a16:creationId xmlns:a16="http://schemas.microsoft.com/office/drawing/2014/main" id="{A71DBE93-76EA-49D2-B6E9-0FE5EF5D498D}"/>
              </a:ext>
            </a:extLst>
          </p:cNvPr>
          <p:cNvSpPr/>
          <p:nvPr/>
        </p:nvSpPr>
        <p:spPr>
          <a:xfrm>
            <a:off x="10073634" y="4459639"/>
            <a:ext cx="1667264" cy="10452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a16="http://schemas.microsoft.com/office/drawing/2014/main" id="{8AAAD2DF-EE40-49E4-89EF-1A63A1210F55}"/>
              </a:ext>
            </a:extLst>
          </p:cNvPr>
          <p:cNvSpPr/>
          <p:nvPr/>
        </p:nvSpPr>
        <p:spPr>
          <a:xfrm>
            <a:off x="10082947" y="5559208"/>
            <a:ext cx="1657952" cy="841590"/>
          </a:xfrm>
          <a:custGeom>
            <a:avLst/>
            <a:gdLst>
              <a:gd name="connsiteX0" fmla="*/ 0 w 1667265"/>
              <a:gd name="connsiteY0" fmla="*/ 0 h 746071"/>
              <a:gd name="connsiteX1" fmla="*/ 197590 w 1667265"/>
              <a:gd name="connsiteY1" fmla="*/ 0 h 746071"/>
              <a:gd name="connsiteX2" fmla="*/ 1347214 w 1667265"/>
              <a:gd name="connsiteY2" fmla="*/ 0 h 746071"/>
              <a:gd name="connsiteX3" fmla="*/ 1667265 w 1667265"/>
              <a:gd name="connsiteY3" fmla="*/ 0 h 746071"/>
              <a:gd name="connsiteX4" fmla="*/ 1667265 w 1667265"/>
              <a:gd name="connsiteY4" fmla="*/ 58660 h 746071"/>
              <a:gd name="connsiteX5" fmla="*/ 1667265 w 1667265"/>
              <a:gd name="connsiteY5" fmla="*/ 687411 h 746071"/>
              <a:gd name="connsiteX6" fmla="*/ 1667265 w 1667265"/>
              <a:gd name="connsiteY6" fmla="*/ 746071 h 746071"/>
              <a:gd name="connsiteX7" fmla="*/ 1469675 w 1667265"/>
              <a:gd name="connsiteY7" fmla="*/ 746071 h 746071"/>
              <a:gd name="connsiteX8" fmla="*/ 320051 w 1667265"/>
              <a:gd name="connsiteY8" fmla="*/ 746071 h 746071"/>
              <a:gd name="connsiteX9" fmla="*/ 0 w 1667265"/>
              <a:gd name="connsiteY9" fmla="*/ 746071 h 746071"/>
              <a:gd name="connsiteX10" fmla="*/ 0 w 1667265"/>
              <a:gd name="connsiteY10" fmla="*/ 687411 h 746071"/>
              <a:gd name="connsiteX11" fmla="*/ 0 w 1667265"/>
              <a:gd name="connsiteY11" fmla="*/ 58660 h 7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7265" h="746071">
                <a:moveTo>
                  <a:pt x="0" y="0"/>
                </a:moveTo>
                <a:lnTo>
                  <a:pt x="197590" y="0"/>
                </a:lnTo>
                <a:lnTo>
                  <a:pt x="1347214" y="0"/>
                </a:lnTo>
                <a:lnTo>
                  <a:pt x="1667265" y="0"/>
                </a:lnTo>
                <a:lnTo>
                  <a:pt x="1667265" y="58660"/>
                </a:lnTo>
                <a:lnTo>
                  <a:pt x="1667265" y="687411"/>
                </a:lnTo>
                <a:lnTo>
                  <a:pt x="1667265" y="746071"/>
                </a:lnTo>
                <a:lnTo>
                  <a:pt x="1469675" y="746071"/>
                </a:lnTo>
                <a:lnTo>
                  <a:pt x="320051" y="746071"/>
                </a:lnTo>
                <a:lnTo>
                  <a:pt x="0" y="746071"/>
                </a:lnTo>
                <a:lnTo>
                  <a:pt x="0" y="687411"/>
                </a:lnTo>
                <a:lnTo>
                  <a:pt x="0" y="58660"/>
                </a:lnTo>
                <a:close/>
              </a:path>
            </a:pathLst>
          </a:custGeom>
          <a:gradFill>
            <a:gsLst>
              <a:gs pos="0">
                <a:srgbClr val="002060">
                  <a:alpha val="67000"/>
                </a:srgbClr>
              </a:gs>
              <a:gs pos="100000">
                <a:srgbClr val="00B0F0">
                  <a:alpha val="62000"/>
                </a:srgbClr>
              </a:gs>
            </a:gsLst>
            <a:lin ang="36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171450" indent="-171450">
              <a:buFont typeface="Wingdings" panose="05000000000000000000" pitchFamily="2" charset="2"/>
              <a:buChar char="§"/>
            </a:pPr>
            <a:endParaRPr lang="en-US" sz="850" dirty="0"/>
          </a:p>
          <a:p>
            <a:pPr marL="171450" indent="-171450">
              <a:buFont typeface="Wingdings" panose="05000000000000000000" pitchFamily="2" charset="2"/>
              <a:buChar char="§"/>
            </a:pPr>
            <a:r>
              <a:rPr lang="en-US" sz="850" dirty="0"/>
              <a:t>Embedded Software Development</a:t>
            </a:r>
          </a:p>
          <a:p>
            <a:pPr marL="171450" indent="-171450">
              <a:buFont typeface="Wingdings" panose="05000000000000000000" pitchFamily="2" charset="2"/>
              <a:buChar char="§"/>
            </a:pPr>
            <a:r>
              <a:rPr lang="en-US" sz="850" dirty="0"/>
              <a:t>System Integration</a:t>
            </a:r>
          </a:p>
          <a:p>
            <a:pPr marL="171450" indent="-171450">
              <a:buFont typeface="Wingdings" panose="05000000000000000000" pitchFamily="2" charset="2"/>
              <a:buChar char="§"/>
            </a:pPr>
            <a:r>
              <a:rPr lang="en-US" sz="850" dirty="0"/>
              <a:t>HMI/UI Design</a:t>
            </a:r>
          </a:p>
          <a:p>
            <a:endParaRPr lang="en-US" sz="850" dirty="0"/>
          </a:p>
        </p:txBody>
      </p:sp>
    </p:spTree>
    <p:extLst>
      <p:ext uri="{BB962C8B-B14F-4D97-AF65-F5344CB8AC3E}">
        <p14:creationId xmlns:p14="http://schemas.microsoft.com/office/powerpoint/2010/main" val="89698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C9ACAAE7-C82A-4C95-AD30-5B23E9618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0"/>
            <a:ext cx="12192002" cy="6858000"/>
          </a:xfrm>
          <a:prstGeom prst="rect">
            <a:avLst/>
          </a:prstGeom>
        </p:spPr>
      </p:pic>
      <p:grpSp>
        <p:nvGrpSpPr>
          <p:cNvPr id="17" name="Group 16">
            <a:extLst>
              <a:ext uri="{FF2B5EF4-FFF2-40B4-BE49-F238E27FC236}">
                <a16:creationId xmlns:a16="http://schemas.microsoft.com/office/drawing/2014/main" id="{04171FEA-694D-4BAC-A45F-483C82CA7C92}"/>
              </a:ext>
            </a:extLst>
          </p:cNvPr>
          <p:cNvGrpSpPr/>
          <p:nvPr/>
        </p:nvGrpSpPr>
        <p:grpSpPr>
          <a:xfrm>
            <a:off x="19052" y="28576"/>
            <a:ext cx="1661908" cy="475130"/>
            <a:chOff x="242047" y="420500"/>
            <a:chExt cx="7562850" cy="2162175"/>
          </a:xfrm>
          <a:effectLst>
            <a:glow rad="114300">
              <a:schemeClr val="bg1">
                <a:alpha val="71000"/>
              </a:schemeClr>
            </a:glow>
          </a:effectLst>
        </p:grpSpPr>
        <p:pic>
          <p:nvPicPr>
            <p:cNvPr id="5" name="Picture 4">
              <a:extLst>
                <a:ext uri="{FF2B5EF4-FFF2-40B4-BE49-F238E27FC236}">
                  <a16:creationId xmlns:a16="http://schemas.microsoft.com/office/drawing/2014/main" id="{D5F08834-A56C-4B22-A3B0-651AC04C44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047" y="420500"/>
              <a:ext cx="7562850" cy="2162175"/>
            </a:xfrm>
            <a:prstGeom prst="rect">
              <a:avLst/>
            </a:prstGeom>
          </p:spPr>
        </p:pic>
        <p:sp>
          <p:nvSpPr>
            <p:cNvPr id="6" name="Rectangle 5">
              <a:extLst>
                <a:ext uri="{FF2B5EF4-FFF2-40B4-BE49-F238E27FC236}">
                  <a16:creationId xmlns:a16="http://schemas.microsoft.com/office/drawing/2014/main" id="{4D588A0F-EFDC-4290-AACC-BF347665519E}"/>
                </a:ext>
              </a:extLst>
            </p:cNvPr>
            <p:cNvSpPr/>
            <p:nvPr/>
          </p:nvSpPr>
          <p:spPr>
            <a:xfrm>
              <a:off x="1345406"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5797C93-ECF2-4F29-8473-3CDD6C2C087A}"/>
                </a:ext>
              </a:extLst>
            </p:cNvPr>
            <p:cNvSpPr/>
            <p:nvPr/>
          </p:nvSpPr>
          <p:spPr>
            <a:xfrm>
              <a:off x="1178719"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F613A5A-9B69-4A29-BD1C-F011AF89C438}"/>
                </a:ext>
              </a:extLst>
            </p:cNvPr>
            <p:cNvSpPr/>
            <p:nvPr/>
          </p:nvSpPr>
          <p:spPr>
            <a:xfrm>
              <a:off x="1006079"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B79EDEE-F717-4E80-ADD8-A8EFEBF2082A}"/>
                </a:ext>
              </a:extLst>
            </p:cNvPr>
            <p:cNvSpPr/>
            <p:nvPr/>
          </p:nvSpPr>
          <p:spPr>
            <a:xfrm>
              <a:off x="1514474"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3D1E5A-9756-4E7F-8C81-885F5A107684}"/>
                </a:ext>
              </a:extLst>
            </p:cNvPr>
            <p:cNvSpPr/>
            <p:nvPr/>
          </p:nvSpPr>
          <p:spPr>
            <a:xfrm>
              <a:off x="840582"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3D2BF6C-EC61-4E64-8FD0-905DE4ACF072}"/>
                </a:ext>
              </a:extLst>
            </p:cNvPr>
            <p:cNvSpPr/>
            <p:nvPr/>
          </p:nvSpPr>
          <p:spPr>
            <a:xfrm>
              <a:off x="1681161" y="1619250"/>
              <a:ext cx="126207" cy="128588"/>
            </a:xfrm>
            <a:prstGeom prst="rect">
              <a:avLst/>
            </a:prstGeom>
            <a:solidFill>
              <a:srgbClr val="E3B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E19F11-5BA4-4436-ACBB-437FA667A978}"/>
                </a:ext>
              </a:extLst>
            </p:cNvPr>
            <p:cNvSpPr/>
            <p:nvPr/>
          </p:nvSpPr>
          <p:spPr>
            <a:xfrm>
              <a:off x="1512093"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2514A6B-0CDA-4DFF-80C5-DDF06D7963EF}"/>
                </a:ext>
              </a:extLst>
            </p:cNvPr>
            <p:cNvSpPr/>
            <p:nvPr/>
          </p:nvSpPr>
          <p:spPr>
            <a:xfrm>
              <a:off x="1343025"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B3FC802-937D-4999-92A8-617C4D129B0A}"/>
                </a:ext>
              </a:extLst>
            </p:cNvPr>
            <p:cNvSpPr/>
            <p:nvPr/>
          </p:nvSpPr>
          <p:spPr>
            <a:xfrm>
              <a:off x="1173957"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65D2CC5-9DE7-44ED-A591-93B2F2C139B4}"/>
                </a:ext>
              </a:extLst>
            </p:cNvPr>
            <p:cNvSpPr/>
            <p:nvPr/>
          </p:nvSpPr>
          <p:spPr>
            <a:xfrm>
              <a:off x="1007270"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05C98F6-9A23-4B0E-81BA-3C8E9CA1A5F4}"/>
                </a:ext>
              </a:extLst>
            </p:cNvPr>
            <p:cNvSpPr/>
            <p:nvPr/>
          </p:nvSpPr>
          <p:spPr>
            <a:xfrm>
              <a:off x="1678779" y="1790700"/>
              <a:ext cx="126207" cy="128588"/>
            </a:xfrm>
            <a:prstGeom prst="rect">
              <a:avLst/>
            </a:prstGeom>
            <a:solidFill>
              <a:srgbClr val="E779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1FD9F0F5-EB58-4589-9681-0A35ED5E3B3F}"/>
              </a:ext>
            </a:extLst>
          </p:cNvPr>
          <p:cNvGrpSpPr/>
          <p:nvPr/>
        </p:nvGrpSpPr>
        <p:grpSpPr>
          <a:xfrm>
            <a:off x="7966445" y="5144008"/>
            <a:ext cx="4008614" cy="418040"/>
            <a:chOff x="7784993" y="4481868"/>
            <a:chExt cx="4008614" cy="418040"/>
          </a:xfrm>
          <a:effectLst>
            <a:outerShdw blurRad="50800" dist="38100" dir="2700000" algn="tl" rotWithShape="0">
              <a:prstClr val="black">
                <a:alpha val="40000"/>
              </a:prstClr>
            </a:outerShdw>
          </a:effectLst>
        </p:grpSpPr>
        <p:sp>
          <p:nvSpPr>
            <p:cNvPr id="23" name="Freeform: Shape 22">
              <a:extLst>
                <a:ext uri="{FF2B5EF4-FFF2-40B4-BE49-F238E27FC236}">
                  <a16:creationId xmlns:a16="http://schemas.microsoft.com/office/drawing/2014/main" id="{66C49EED-53FD-4D10-B85B-0848AC498105}"/>
                </a:ext>
              </a:extLst>
            </p:cNvPr>
            <p:cNvSpPr/>
            <p:nvPr/>
          </p:nvSpPr>
          <p:spPr>
            <a:xfrm>
              <a:off x="7784993" y="4481868"/>
              <a:ext cx="4008614" cy="400110"/>
            </a:xfrm>
            <a:custGeom>
              <a:avLst/>
              <a:gdLst>
                <a:gd name="connsiteX0" fmla="*/ 1608152 w 3083560"/>
                <a:gd name="connsiteY0" fmla="*/ 0 h 400164"/>
                <a:gd name="connsiteX1" fmla="*/ 2419212 w 3083560"/>
                <a:gd name="connsiteY1" fmla="*/ 0 h 400164"/>
                <a:gd name="connsiteX2" fmla="*/ 2489503 w 3083560"/>
                <a:gd name="connsiteY2" fmla="*/ 82074 h 400164"/>
                <a:gd name="connsiteX3" fmla="*/ 2554388 w 3083560"/>
                <a:gd name="connsiteY3" fmla="*/ 88387 h 400164"/>
                <a:gd name="connsiteX4" fmla="*/ 3083560 w 3083560"/>
                <a:gd name="connsiteY4" fmla="*/ 88387 h 400164"/>
                <a:gd name="connsiteX5" fmla="*/ 3083560 w 3083560"/>
                <a:gd name="connsiteY5" fmla="*/ 393829 h 400164"/>
                <a:gd name="connsiteX6" fmla="*/ 2815895 w 3083560"/>
                <a:gd name="connsiteY6" fmla="*/ 393829 h 400164"/>
                <a:gd name="connsiteX7" fmla="*/ 2804582 w 3083560"/>
                <a:gd name="connsiteY7" fmla="*/ 396113 h 400164"/>
                <a:gd name="connsiteX8" fmla="*/ 2801774 w 3083560"/>
                <a:gd name="connsiteY8" fmla="*/ 398006 h 400164"/>
                <a:gd name="connsiteX9" fmla="*/ 2737327 w 3083560"/>
                <a:gd name="connsiteY9" fmla="*/ 398006 h 400164"/>
                <a:gd name="connsiteX10" fmla="*/ 1250384 w 3083560"/>
                <a:gd name="connsiteY10" fmla="*/ 398006 h 400164"/>
                <a:gd name="connsiteX11" fmla="*/ 1248536 w 3083560"/>
                <a:gd name="connsiteY11" fmla="*/ 400164 h 400164"/>
                <a:gd name="connsiteX12" fmla="*/ 0 w 3083560"/>
                <a:gd name="connsiteY12" fmla="*/ 400164 h 400164"/>
                <a:gd name="connsiteX13" fmla="*/ 0 w 3083560"/>
                <a:gd name="connsiteY13" fmla="*/ 119954 h 400164"/>
                <a:gd name="connsiteX14" fmla="*/ 1505418 w 3083560"/>
                <a:gd name="connsiteY14" fmla="*/ 119954 h 40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83560" h="400164">
                  <a:moveTo>
                    <a:pt x="1608152" y="0"/>
                  </a:moveTo>
                  <a:lnTo>
                    <a:pt x="2419212" y="0"/>
                  </a:lnTo>
                  <a:lnTo>
                    <a:pt x="2489503" y="82074"/>
                  </a:lnTo>
                  <a:lnTo>
                    <a:pt x="2554388" y="88387"/>
                  </a:lnTo>
                  <a:lnTo>
                    <a:pt x="3083560" y="88387"/>
                  </a:lnTo>
                  <a:lnTo>
                    <a:pt x="3083560" y="393829"/>
                  </a:lnTo>
                  <a:lnTo>
                    <a:pt x="2815895" y="393829"/>
                  </a:lnTo>
                  <a:cubicBezTo>
                    <a:pt x="2811882" y="393829"/>
                    <a:pt x="2808059" y="394643"/>
                    <a:pt x="2804582" y="396113"/>
                  </a:cubicBezTo>
                  <a:lnTo>
                    <a:pt x="2801774" y="398006"/>
                  </a:lnTo>
                  <a:lnTo>
                    <a:pt x="2737327" y="398006"/>
                  </a:lnTo>
                  <a:lnTo>
                    <a:pt x="1250384" y="398006"/>
                  </a:lnTo>
                  <a:lnTo>
                    <a:pt x="1248536" y="400164"/>
                  </a:lnTo>
                  <a:lnTo>
                    <a:pt x="0" y="400164"/>
                  </a:lnTo>
                  <a:lnTo>
                    <a:pt x="0" y="119954"/>
                  </a:lnTo>
                  <a:lnTo>
                    <a:pt x="1505418" y="119954"/>
                  </a:lnTo>
                  <a:close/>
                </a:path>
              </a:pathLst>
            </a:custGeom>
            <a:gradFill>
              <a:gsLst>
                <a:gs pos="23000">
                  <a:srgbClr val="022746">
                    <a:lumMod val="46000"/>
                    <a:alpha val="18000"/>
                  </a:srgbClr>
                </a:gs>
                <a:gs pos="62000">
                  <a:srgbClr val="082F4F">
                    <a:alpha val="62000"/>
                  </a:srgbClr>
                </a:gs>
                <a:gs pos="91000">
                  <a:srgbClr val="082F4F">
                    <a:lumMod val="75000"/>
                    <a:lumOff val="25000"/>
                    <a:alpha val="54000"/>
                  </a:srgbClr>
                </a:gs>
              </a:gsLst>
              <a:lin ang="0" scaled="0"/>
            </a:gradFill>
            <a:ln w="12700">
              <a:gradFill>
                <a:gsLst>
                  <a:gs pos="0">
                    <a:schemeClr val="accent1">
                      <a:lumMod val="5000"/>
                      <a:lumOff val="95000"/>
                      <a:alpha val="51000"/>
                    </a:schemeClr>
                  </a:gs>
                  <a:gs pos="100000">
                    <a:schemeClr val="accent1">
                      <a:lumMod val="30000"/>
                      <a:lumOff val="7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24" name="TextBox 23">
              <a:extLst>
                <a:ext uri="{FF2B5EF4-FFF2-40B4-BE49-F238E27FC236}">
                  <a16:creationId xmlns:a16="http://schemas.microsoft.com/office/drawing/2014/main" id="{E7AF6333-8FAD-4C41-B2B1-185E74EC5C2B}"/>
                </a:ext>
              </a:extLst>
            </p:cNvPr>
            <p:cNvSpPr txBox="1"/>
            <p:nvPr/>
          </p:nvSpPr>
          <p:spPr>
            <a:xfrm>
              <a:off x="9789300" y="4499798"/>
              <a:ext cx="1219200" cy="400110"/>
            </a:xfrm>
            <a:prstGeom prst="rect">
              <a:avLst/>
            </a:prstGeom>
            <a:noFill/>
            <a:ln w="12700">
              <a:noFill/>
            </a:ln>
          </p:spPr>
          <p:txBody>
            <a:bodyPr wrap="square" rtlCol="0">
              <a:spAutoFit/>
            </a:bodyPr>
            <a:lstStyle/>
            <a:p>
              <a:r>
                <a:rPr lang="en-US" sz="2000" b="1" dirty="0">
                  <a:solidFill>
                    <a:schemeClr val="bg1">
                      <a:alpha val="84000"/>
                    </a:schemeClr>
                  </a:solidFill>
                </a:rPr>
                <a:t>AUTHORS</a:t>
              </a:r>
            </a:p>
          </p:txBody>
        </p:sp>
      </p:grpSp>
      <p:sp>
        <p:nvSpPr>
          <p:cNvPr id="25" name="TextBox 24">
            <a:extLst>
              <a:ext uri="{FF2B5EF4-FFF2-40B4-BE49-F238E27FC236}">
                <a16:creationId xmlns:a16="http://schemas.microsoft.com/office/drawing/2014/main" id="{4B4E5126-5806-48AF-833D-9EA29C408DA3}"/>
              </a:ext>
            </a:extLst>
          </p:cNvPr>
          <p:cNvSpPr txBox="1"/>
          <p:nvPr/>
        </p:nvSpPr>
        <p:spPr>
          <a:xfrm>
            <a:off x="7836437" y="6566840"/>
            <a:ext cx="1303562" cy="261610"/>
          </a:xfrm>
          <a:prstGeom prst="rect">
            <a:avLst/>
          </a:prstGeom>
          <a:noFill/>
        </p:spPr>
        <p:txBody>
          <a:bodyPr wrap="none" rtlCol="0">
            <a:spAutoFit/>
          </a:bodyPr>
          <a:lstStyle/>
          <a:p>
            <a:r>
              <a:rPr lang="en-US" sz="1050" dirty="0">
                <a:solidFill>
                  <a:schemeClr val="bg1"/>
                </a:solidFill>
              </a:rPr>
              <a:t>Jake Vincent Basalo</a:t>
            </a:r>
          </a:p>
        </p:txBody>
      </p:sp>
      <p:sp>
        <p:nvSpPr>
          <p:cNvPr id="26" name="TextBox 25">
            <a:extLst>
              <a:ext uri="{FF2B5EF4-FFF2-40B4-BE49-F238E27FC236}">
                <a16:creationId xmlns:a16="http://schemas.microsoft.com/office/drawing/2014/main" id="{7FE1F6B1-D812-4F78-AB0A-9D7407AF81CC}"/>
              </a:ext>
            </a:extLst>
          </p:cNvPr>
          <p:cNvSpPr txBox="1"/>
          <p:nvPr/>
        </p:nvSpPr>
        <p:spPr>
          <a:xfrm>
            <a:off x="9310294" y="6567538"/>
            <a:ext cx="1287532" cy="253916"/>
          </a:xfrm>
          <a:prstGeom prst="rect">
            <a:avLst/>
          </a:prstGeom>
          <a:noFill/>
        </p:spPr>
        <p:txBody>
          <a:bodyPr wrap="none" rtlCol="0">
            <a:spAutoFit/>
          </a:bodyPr>
          <a:lstStyle/>
          <a:p>
            <a:r>
              <a:rPr lang="en-US" sz="1050" dirty="0">
                <a:solidFill>
                  <a:schemeClr val="bg1"/>
                </a:solidFill>
              </a:rPr>
              <a:t>Marc Lorenz </a:t>
            </a:r>
            <a:r>
              <a:rPr lang="en-US" sz="1050" dirty="0" err="1">
                <a:solidFill>
                  <a:schemeClr val="bg1"/>
                </a:solidFill>
              </a:rPr>
              <a:t>Coruña</a:t>
            </a:r>
            <a:endParaRPr lang="en-US" sz="1050" dirty="0">
              <a:solidFill>
                <a:schemeClr val="bg1"/>
              </a:solidFill>
            </a:endParaRPr>
          </a:p>
        </p:txBody>
      </p:sp>
      <p:sp>
        <p:nvSpPr>
          <p:cNvPr id="27" name="TextBox 26">
            <a:extLst>
              <a:ext uri="{FF2B5EF4-FFF2-40B4-BE49-F238E27FC236}">
                <a16:creationId xmlns:a16="http://schemas.microsoft.com/office/drawing/2014/main" id="{5A89CC95-3CD7-42AB-9A9E-39EC7507A47C}"/>
              </a:ext>
            </a:extLst>
          </p:cNvPr>
          <p:cNvSpPr txBox="1"/>
          <p:nvPr/>
        </p:nvSpPr>
        <p:spPr>
          <a:xfrm>
            <a:off x="10936764" y="6574534"/>
            <a:ext cx="965329" cy="253916"/>
          </a:xfrm>
          <a:prstGeom prst="rect">
            <a:avLst/>
          </a:prstGeom>
          <a:noFill/>
        </p:spPr>
        <p:txBody>
          <a:bodyPr wrap="none" rtlCol="0">
            <a:spAutoFit/>
          </a:bodyPr>
          <a:lstStyle/>
          <a:p>
            <a:r>
              <a:rPr lang="en-US" sz="1050" dirty="0">
                <a:solidFill>
                  <a:schemeClr val="bg1"/>
                </a:solidFill>
              </a:rPr>
              <a:t>Ryan Balaguer</a:t>
            </a:r>
          </a:p>
        </p:txBody>
      </p:sp>
      <p:pic>
        <p:nvPicPr>
          <p:cNvPr id="3" name="Picture 2">
            <a:extLst>
              <a:ext uri="{FF2B5EF4-FFF2-40B4-BE49-F238E27FC236}">
                <a16:creationId xmlns:a16="http://schemas.microsoft.com/office/drawing/2014/main" id="{04E72A93-31E9-4BD6-9B8D-B03EAF2885F5}"/>
              </a:ext>
            </a:extLst>
          </p:cNvPr>
          <p:cNvPicPr preferRelativeResize="0">
            <a:picLocks/>
          </p:cNvPicPr>
          <p:nvPr/>
        </p:nvPicPr>
        <p:blipFill rotWithShape="1">
          <a:blip r:embed="rId5" cstate="hqprint">
            <a:extLst>
              <a:ext uri="{28A0092B-C50C-407E-A947-70E740481C1C}">
                <a14:useLocalDpi xmlns:a14="http://schemas.microsoft.com/office/drawing/2010/main"/>
              </a:ext>
            </a:extLst>
          </a:blip>
          <a:srcRect/>
          <a:stretch/>
        </p:blipFill>
        <p:spPr>
          <a:xfrm>
            <a:off x="9496860" y="5658368"/>
            <a:ext cx="914400" cy="914400"/>
          </a:xfrm>
          <a:prstGeom prst="rect">
            <a:avLst/>
          </a:prstGeom>
          <a:ln w="12700">
            <a:solidFill>
              <a:srgbClr val="0070C0"/>
            </a:solidFill>
          </a:ln>
          <a:effectLst/>
        </p:spPr>
      </p:pic>
      <p:pic>
        <p:nvPicPr>
          <p:cNvPr id="28" name="Picture 27">
            <a:extLst>
              <a:ext uri="{FF2B5EF4-FFF2-40B4-BE49-F238E27FC236}">
                <a16:creationId xmlns:a16="http://schemas.microsoft.com/office/drawing/2014/main" id="{CA11784E-4B41-4398-8AD8-46BD040CABAD}"/>
              </a:ext>
            </a:extLst>
          </p:cNvPr>
          <p:cNvPicPr preferRelativeResize="0">
            <a:picLocks/>
          </p:cNvPicPr>
          <p:nvPr/>
        </p:nvPicPr>
        <p:blipFill>
          <a:blip r:embed="rId6" cstate="hqprint">
            <a:extLst>
              <a:ext uri="{28A0092B-C50C-407E-A947-70E740481C1C}">
                <a14:useLocalDpi xmlns:a14="http://schemas.microsoft.com/office/drawing/2010/main"/>
              </a:ext>
            </a:extLst>
          </a:blip>
          <a:stretch>
            <a:fillRect/>
          </a:stretch>
        </p:blipFill>
        <p:spPr>
          <a:xfrm>
            <a:off x="8031018" y="5660134"/>
            <a:ext cx="914400" cy="914400"/>
          </a:xfrm>
          <a:prstGeom prst="rect">
            <a:avLst/>
          </a:prstGeom>
        </p:spPr>
      </p:pic>
      <p:pic>
        <p:nvPicPr>
          <p:cNvPr id="30" name="Picture 29">
            <a:extLst>
              <a:ext uri="{FF2B5EF4-FFF2-40B4-BE49-F238E27FC236}">
                <a16:creationId xmlns:a16="http://schemas.microsoft.com/office/drawing/2014/main" id="{D15D5399-735B-4449-A42D-CB07659D406F}"/>
              </a:ext>
            </a:extLst>
          </p:cNvPr>
          <p:cNvPicPr preferRelativeResize="0">
            <a:picLocks/>
          </p:cNvPicPr>
          <p:nvPr/>
        </p:nvPicPr>
        <p:blipFill>
          <a:blip r:embed="rId7" cstate="hqprint">
            <a:extLst>
              <a:ext uri="{28A0092B-C50C-407E-A947-70E740481C1C}">
                <a14:useLocalDpi xmlns:a14="http://schemas.microsoft.com/office/drawing/2010/main"/>
              </a:ext>
            </a:extLst>
          </a:blip>
          <a:stretch>
            <a:fillRect/>
          </a:stretch>
        </p:blipFill>
        <p:spPr>
          <a:xfrm>
            <a:off x="10936764" y="5660134"/>
            <a:ext cx="914400" cy="914400"/>
          </a:xfrm>
          <a:prstGeom prst="rect">
            <a:avLst/>
          </a:prstGeom>
        </p:spPr>
      </p:pic>
    </p:spTree>
    <p:extLst>
      <p:ext uri="{BB962C8B-B14F-4D97-AF65-F5344CB8AC3E}">
        <p14:creationId xmlns:p14="http://schemas.microsoft.com/office/powerpoint/2010/main" val="4265254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532</Words>
  <Application>Microsoft Office PowerPoint</Application>
  <PresentationFormat>Widescreen</PresentationFormat>
  <Paragraphs>86</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Wingdings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Balaguer, Ryan</dc:creator>
  <cp:lastModifiedBy>Balaguer, Ryan</cp:lastModifiedBy>
  <cp:revision>86</cp:revision>
  <dcterms:created xsi:type="dcterms:W3CDTF">2026-09-20T16:46:11Z</dcterms:created>
  <dcterms:modified xsi:type="dcterms:W3CDTF">2026-09-26T00:43:09Z</dcterms:modified>
</cp:coreProperties>
</file>